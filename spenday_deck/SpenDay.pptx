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1E1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1920240"/>
            <a:ext cx="6035040" cy="6035040"/>
          </a:xfrm>
          <a:prstGeom prst="ellipse">
            <a:avLst/>
          </a:prstGeom>
          <a:solidFill>
            <a:srgbClr val="2A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554480" y="4206240"/>
            <a:ext cx="4206240" cy="4206240"/>
          </a:xfrm>
          <a:prstGeom prst="ellipse">
            <a:avLst/>
          </a:prstGeom>
          <a:solidFill>
            <a:srgbClr val="2A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0" y="640080"/>
            <a:ext cx="457200" cy="457200"/>
          </a:xfrm>
          <a:prstGeom prst="ellipse">
            <a:avLst/>
          </a:prstGeom>
          <a:solidFill>
            <a:srgbClr val="2A2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13232"/>
            <a:ext cx="384048" cy="384048"/>
          </a:xfrm>
          <a:prstGeom prst="roundRect">
            <a:avLst>
              <a:gd name="adj" fmla="val 27999"/>
            </a:avLst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880932" y="820765"/>
            <a:ext cx="176662" cy="176662"/>
          </a:xfrm>
          <a:prstGeom prst="star5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9304" y="658368"/>
            <a:ext cx="31089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84" i="0">
                <a:solidFill>
                  <a:srgbClr val="FFFFFF"/>
                </a:solidFill>
                <a:latin typeface="Montserrat ExtraBold"/>
              </a:rPr>
              <a:t>Spen</a:t>
            </a:r>
            <a:r>
              <a:rPr sz="2184" i="0">
                <a:solidFill>
                  <a:srgbClr val="8B83FF"/>
                </a:solidFill>
                <a:latin typeface="Montserrat ExtraBold"/>
              </a:rPr>
              <a:t>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i="0" spc="300">
                <a:solidFill>
                  <a:srgbClr val="8B83FF"/>
                </a:solidFill>
                <a:latin typeface="Montserrat SemiBold"/>
              </a:rPr>
              <a:t>ПРОДУКТОВАЯ СТУДИЯ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487168"/>
            <a:ext cx="74980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0" i="0">
                <a:solidFill>
                  <a:srgbClr val="FFFFFF"/>
                </a:solidFill>
                <a:latin typeface="Montserrat Black"/>
              </a:rPr>
              <a:t>SpenDay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22191"/>
            <a:ext cx="7406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i="0">
                <a:solidFill>
                  <a:srgbClr val="FFFFFF"/>
                </a:solidFill>
                <a:latin typeface="Montserrat ExtraBold"/>
              </a:rPr>
              <a:t>Готовые сценарии досуга
</a:t>
            </a:r>
            <a:r>
              <a:rPr sz="3000" i="0">
                <a:solidFill>
                  <a:srgbClr val="8B83FF"/>
                </a:solidFill>
                <a:latin typeface="Montserrat ExtraBold"/>
              </a:rPr>
              <a:t>с понятным бюджетом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440680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i="0">
                <a:solidFill>
                  <a:srgbClr val="C9C7E6"/>
                </a:solidFill>
                <a:latin typeface="Montserrat Medium"/>
              </a:rPr>
              <a:t>Выбрать вечер за 10 минут — а не за вечер бесконечного поиска.</a:t>
            </a:r>
          </a:p>
        </p:txBody>
      </p:sp>
      <p:sp>
        <p:nvSpPr>
          <p:cNvPr id="13" name="Oval 12"/>
          <p:cNvSpPr/>
          <p:nvPr/>
        </p:nvSpPr>
        <p:spPr>
          <a:xfrm>
            <a:off x="7955279" y="1280160"/>
            <a:ext cx="4206240" cy="5669280"/>
          </a:xfrm>
          <a:prstGeom prst="ellipse">
            <a:avLst/>
          </a:prstGeom>
          <a:solidFill>
            <a:srgbClr val="2A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hone_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3760" y="1143000"/>
            <a:ext cx="3257839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i="0" spc="240">
                <a:solidFill>
                  <a:srgbClr val="5046E5"/>
                </a:solidFill>
                <a:latin typeface="Montserrat SemiBold"/>
              </a:rPr>
              <a:t>ИСТОРИЯ · ПЯТНИЦА, 19:00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i="0">
                <a:solidFill>
                  <a:srgbClr val="1E1B4A"/>
                </a:solidFill>
                <a:latin typeface="Montserrat ExtraBold"/>
              </a:rPr>
              <a:t>Как наша компания выбирала, куда пойти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1E1B4A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5046E5"/>
                </a:solidFill>
                <a:latin typeface="Montserrat SemiBold"/>
              </a:rPr>
              <a:t>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5046E5"/>
                </a:solidFill>
                <a:latin typeface="Montserrat SemiBold"/>
              </a:rPr>
              <a:t>02</a:t>
            </a:r>
            <a:r>
              <a:rPr sz="1050" i="0">
                <a:solidFill>
                  <a:srgbClr val="9A9AB2"/>
                </a:solidFill>
                <a:latin typeface="Montserrat Medium"/>
              </a:rPr>
              <a:t>  /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4434840" cy="749808"/>
          </a:xfrm>
          <a:prstGeom prst="roundRect">
            <a:avLst>
              <a:gd name="adj" fmla="val 34146"/>
            </a:avLst>
          </a:prstGeom>
          <a:solidFill>
            <a:srgbClr val="EF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wrap="square" tIns="0" bIns="0"/>
          <a:lstStyle/>
          <a:p>
            <a:pPr algn="l">
              <a:spcAft>
                <a:spcPts val="0"/>
              </a:spcAft>
            </a:pPr>
            <a:r>
              <a:rPr sz="1450" i="0">
                <a:solidFill>
                  <a:srgbClr val="1E1B4A"/>
                </a:solidFill>
                <a:latin typeface="Montserrat Medium"/>
              </a:rPr>
              <a:t>«Давайте в рилсы — там же куча идей»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2990088"/>
            <a:ext cx="4434840" cy="749808"/>
          </a:xfrm>
          <a:prstGeom prst="roundRect">
            <a:avLst>
              <a:gd name="adj" fmla="val 34146"/>
            </a:avLst>
          </a:prstGeom>
          <a:solidFill>
            <a:srgbClr val="5046E5"/>
          </a:solidFill>
          <a:ln>
            <a:noFill/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wrap="square" tIns="0" bIns="0"/>
          <a:lstStyle/>
          <a:p>
            <a:pPr algn="l">
              <a:spcAft>
                <a:spcPts val="0"/>
              </a:spcAft>
            </a:pPr>
            <a:r>
              <a:rPr sz="1450" i="0">
                <a:solidFill>
                  <a:srgbClr val="FFFFFF"/>
                </a:solidFill>
                <a:latin typeface="Montserrat Medium"/>
              </a:rPr>
              <a:t>«Листаем 40 минут — ничего, только залипли»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922776"/>
            <a:ext cx="4434840" cy="749808"/>
          </a:xfrm>
          <a:prstGeom prst="roundRect">
            <a:avLst>
              <a:gd name="adj" fmla="val 34146"/>
            </a:avLst>
          </a:prstGeom>
          <a:solidFill>
            <a:srgbClr val="EF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wrap="square" tIns="0" bIns="0"/>
          <a:lstStyle/>
          <a:p>
            <a:pPr algn="l">
              <a:spcAft>
                <a:spcPts val="0"/>
              </a:spcAft>
            </a:pPr>
            <a:r>
              <a:rPr sz="1450" i="0">
                <a:solidFill>
                  <a:srgbClr val="1E1B4A"/>
                </a:solidFill>
                <a:latin typeface="Montserrat Medium"/>
              </a:rPr>
              <a:t>«О, у нас же есть сохранённые!»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4855464"/>
            <a:ext cx="4434840" cy="749808"/>
          </a:xfrm>
          <a:prstGeom prst="roundRect">
            <a:avLst>
              <a:gd name="adj" fmla="val 34146"/>
            </a:avLst>
          </a:prstGeom>
          <a:solidFill>
            <a:srgbClr val="5046E5"/>
          </a:solidFill>
          <a:ln>
            <a:noFill/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wrap="square" tIns="0" bIns="0"/>
          <a:lstStyle/>
          <a:p>
            <a:pPr algn="l">
              <a:spcAft>
                <a:spcPts val="0"/>
              </a:spcAft>
            </a:pPr>
            <a:r>
              <a:rPr sz="1450" i="0">
                <a:solidFill>
                  <a:srgbClr val="FFFFFF"/>
                </a:solidFill>
                <a:latin typeface="Montserrat Medium"/>
              </a:rPr>
              <a:t>«Там 300 роликов про еду и ноль решений»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2057400"/>
            <a:ext cx="4114800" cy="3529584"/>
          </a:xfrm>
          <a:prstGeom prst="roundRect">
            <a:avLst>
              <a:gd name="adj" fmla="val 5699"/>
            </a:avLst>
          </a:prstGeom>
          <a:solidFill>
            <a:srgbClr val="1E1B4A"/>
          </a:solidFill>
          <a:ln>
            <a:noFill/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239572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i="0" spc="260">
                <a:solidFill>
                  <a:srgbClr val="8B83FF"/>
                </a:solidFill>
                <a:latin typeface="Montserrat SemiBold"/>
              </a:rPr>
              <a:t>ЧТО В ИТОГЕ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98664" y="2743200"/>
            <a:ext cx="3474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200" i="0">
                <a:solidFill>
                  <a:srgbClr val="FFFFFF"/>
                </a:solidFill>
                <a:latin typeface="Montserrat Black"/>
              </a:rPr>
              <a:t>≈ 1 </a:t>
            </a:r>
            <a:r>
              <a:rPr sz="3000" i="0">
                <a:solidFill>
                  <a:srgbClr val="8B83FF"/>
                </a:solidFill>
                <a:latin typeface="Montserrat Black"/>
              </a:rPr>
              <a:t>час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712463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i="0">
                <a:solidFill>
                  <a:srgbClr val="C9C7E6"/>
                </a:solidFill>
                <a:latin typeface="Montserrat Medium"/>
              </a:rPr>
              <a:t>обсуждений и споров в чате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35240" y="4261104"/>
            <a:ext cx="3383280" cy="0"/>
          </a:xfrm>
          <a:prstGeom prst="bentConnector3">
            <a:avLst/>
          </a:prstGeom>
          <a:ln w="15240">
            <a:solidFill>
              <a:srgbClr val="3A35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35240" y="4443984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i="0">
                <a:solidFill>
                  <a:srgbClr val="FFFFFF"/>
                </a:solidFill>
                <a:latin typeface="Montserrat SemiBold"/>
              </a:rPr>
              <a:t>Итог: </a:t>
            </a:r>
            <a:r>
              <a:rPr sz="1500" i="0">
                <a:solidFill>
                  <a:srgbClr val="D8D6F0"/>
                </a:solidFill>
                <a:latin typeface="Montserrat Medium"/>
              </a:rPr>
              <a:t>пошли туда же, куда ходим всегда.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1E1B4A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5046E5"/>
                </a:solidFill>
                <a:latin typeface="Montserrat SemiBold"/>
              </a:rPr>
              <a:t>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5046E5"/>
                </a:solidFill>
                <a:latin typeface="Montserrat SemiBold"/>
              </a:rPr>
              <a:t>02</a:t>
            </a:r>
            <a:r>
              <a:rPr sz="1050" i="0">
                <a:solidFill>
                  <a:srgbClr val="9A9AB2"/>
                </a:solidFill>
                <a:latin typeface="Montserrat Medium"/>
              </a:rPr>
              <a:t>  / 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i="0" spc="240">
                <a:solidFill>
                  <a:srgbClr val="5046E5"/>
                </a:solidFill>
                <a:latin typeface="Montserrat SemiBold"/>
              </a:rPr>
              <a:t>ИСТОРИЯ · 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i="0">
                <a:solidFill>
                  <a:srgbClr val="1E1B4A"/>
                </a:solidFill>
                <a:latin typeface="Montserrat ExtraBold"/>
              </a:rPr>
              <a:t>Почему текущий путь неудобный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1E1B4A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5046E5"/>
                </a:solidFill>
                <a:latin typeface="Montserrat SemiBold"/>
              </a:rPr>
              <a:t>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5046E5"/>
                </a:solidFill>
                <a:latin typeface="Montserrat SemiBold"/>
              </a:rPr>
              <a:t>03</a:t>
            </a:r>
            <a:r>
              <a:rPr sz="1050" i="0">
                <a:solidFill>
                  <a:srgbClr val="9A9AB2"/>
                </a:solidFill>
                <a:latin typeface="Montserrat Medium"/>
              </a:rPr>
              <a:t>  /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605229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33550" y="2386584"/>
            <a:ext cx="292608" cy="292608"/>
          </a:xfrm>
          <a:prstGeom prst="ellipse">
            <a:avLst/>
          </a:prstGeom>
          <a:solidFill>
            <a:srgbClr val="DB4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25496"/>
            <a:ext cx="160522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i="0">
                <a:solidFill>
                  <a:srgbClr val="1E1B4A"/>
                </a:solidFill>
                <a:latin typeface="Montserrat SemiBold"/>
              </a:rPr>
              <a:t>Соцсети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18104"/>
            <a:ext cx="16052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i="0">
                <a:solidFill>
                  <a:srgbClr val="6A6A86"/>
                </a:solidFill>
                <a:latin typeface="Montserrat Medium"/>
              </a:rPr>
              <a:t>идея без плана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83637" y="2148840"/>
            <a:ext cx="1605229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39947" y="2386584"/>
            <a:ext cx="292608" cy="292608"/>
          </a:xfrm>
          <a:prstGeom prst="ellipse">
            <a:avLst/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3637" y="2825496"/>
            <a:ext cx="160522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i="0">
                <a:solidFill>
                  <a:srgbClr val="1E1B4A"/>
                </a:solidFill>
                <a:latin typeface="Montserrat SemiBold"/>
              </a:rPr>
              <a:t>Карты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3637" y="3118104"/>
            <a:ext cx="16052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i="0">
                <a:solidFill>
                  <a:srgbClr val="6A6A86"/>
                </a:solidFill>
                <a:latin typeface="Montserrat Medium"/>
              </a:rPr>
              <a:t>просто поиск места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0034" y="2148840"/>
            <a:ext cx="1605229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46345" y="2386584"/>
            <a:ext cx="292608" cy="292608"/>
          </a:xfrm>
          <a:prstGeom prst="ellipse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0034" y="2825496"/>
            <a:ext cx="160522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i="0">
                <a:solidFill>
                  <a:srgbClr val="1E1B4A"/>
                </a:solidFill>
                <a:latin typeface="Montserrat SemiBold"/>
              </a:rPr>
              <a:t>Отзывы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0034" y="3118104"/>
            <a:ext cx="16052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i="0">
                <a:solidFill>
                  <a:srgbClr val="6A6A86"/>
                </a:solidFill>
                <a:latin typeface="Montserrat Medium"/>
              </a:rPr>
              <a:t>часто устарели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6431" y="2148840"/>
            <a:ext cx="1605229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2742" y="2386584"/>
            <a:ext cx="292608" cy="292608"/>
          </a:xfrm>
          <a:prstGeom prst="ellipse">
            <a:avLst/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6431" y="2825496"/>
            <a:ext cx="160522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i="0">
                <a:solidFill>
                  <a:srgbClr val="1E1B4A"/>
                </a:solidFill>
                <a:latin typeface="Montserrat SemiBold"/>
              </a:rPr>
              <a:t>Меню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6431" y="3118104"/>
            <a:ext cx="16052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i="0">
                <a:solidFill>
                  <a:srgbClr val="6A6A86"/>
                </a:solidFill>
                <a:latin typeface="Montserrat Medium"/>
              </a:rPr>
              <a:t>цены — отдельно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2828" y="2148840"/>
            <a:ext cx="1605229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59139" y="2386584"/>
            <a:ext cx="292608" cy="292608"/>
          </a:xfrm>
          <a:prstGeom prst="ellipse">
            <a:avLst/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2828" y="2825496"/>
            <a:ext cx="160522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i="0">
                <a:solidFill>
                  <a:srgbClr val="1E1B4A"/>
                </a:solidFill>
                <a:latin typeface="Montserrat SemiBold"/>
              </a:rPr>
              <a:t>Сайты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2828" y="3118104"/>
            <a:ext cx="16052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i="0">
                <a:solidFill>
                  <a:srgbClr val="6A6A86"/>
                </a:solidFill>
                <a:latin typeface="Montserrat Medium"/>
              </a:rPr>
              <a:t>всё разрозненно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09226" y="2148840"/>
            <a:ext cx="1605229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465536" y="2386584"/>
            <a:ext cx="292608" cy="292608"/>
          </a:xfrm>
          <a:prstGeom prst="ellipse">
            <a:avLst/>
          </a:prstGeom>
          <a:solidFill>
            <a:srgbClr val="DB4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09226" y="2825496"/>
            <a:ext cx="160522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i="0">
                <a:solidFill>
                  <a:srgbClr val="1E1B4A"/>
                </a:solidFill>
                <a:latin typeface="Montserrat SemiBold"/>
              </a:rPr>
              <a:t>Чат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9226" y="3118104"/>
            <a:ext cx="16052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i="0">
                <a:solidFill>
                  <a:srgbClr val="6A6A86"/>
                </a:solidFill>
                <a:latin typeface="Montserrat Medium"/>
              </a:rPr>
              <a:t>вечное согласование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95847" y="3749039"/>
            <a:ext cx="0" cy="566929"/>
          </a:xfrm>
          <a:prstGeom prst="bentConnector3">
            <a:avLst/>
          </a:prstGeom>
          <a:ln w="25400">
            <a:solidFill>
              <a:srgbClr val="9A9AB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10800000">
            <a:off x="5976975" y="4261104"/>
            <a:ext cx="237744" cy="182880"/>
          </a:xfrm>
          <a:prstGeom prst="triangle">
            <a:avLst/>
          </a:prstGeom>
          <a:solidFill>
            <a:srgbClr val="9A9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77240" y="4572000"/>
            <a:ext cx="10637215" cy="1234440"/>
          </a:xfrm>
          <a:prstGeom prst="roundRect">
            <a:avLst>
              <a:gd name="adj" fmla="val 14814"/>
            </a:avLst>
          </a:prstGeom>
          <a:solidFill>
            <a:srgbClr val="1E1B4A"/>
          </a:solidFill>
          <a:ln>
            <a:noFill/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" y="4736592"/>
            <a:ext cx="6949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i="0">
                <a:solidFill>
                  <a:srgbClr val="FFFFFF"/>
                </a:solidFill>
                <a:latin typeface="Montserrat ExtraBold"/>
              </a:rPr>
              <a:t>Когнитивная перегрузка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C9C7E6"/>
                </a:solidFill>
                <a:latin typeface="Montserrat Medium"/>
              </a:rPr>
              <a:t>слишком много решений и источников информации за один вечер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96935" y="4992624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300" i="0">
                <a:solidFill>
                  <a:srgbClr val="FFFFFF"/>
                </a:solidFill>
                <a:latin typeface="Montserrat SemiBold"/>
              </a:rPr>
              <a:t>5+ сервисов · 0 структуры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1E1B4A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5046E5"/>
                </a:solidFill>
                <a:latin typeface="Montserrat SemiBold"/>
              </a:rPr>
              <a:t>Day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5046E5"/>
                </a:solidFill>
                <a:latin typeface="Montserrat SemiBold"/>
              </a:rPr>
              <a:t>03</a:t>
            </a:r>
            <a:r>
              <a:rPr sz="1050" i="0">
                <a:solidFill>
                  <a:srgbClr val="9A9AB2"/>
                </a:solidFill>
                <a:latin typeface="Montserrat Medium"/>
              </a:rPr>
              <a:t>  / 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i="0" spc="240">
                <a:solidFill>
                  <a:srgbClr val="5046E5"/>
                </a:solidFill>
                <a:latin typeface="Montserrat SemiBold"/>
              </a:rPr>
              <a:t>ИССЛЕДОВАНИЯ ЦА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i="0">
                <a:solidFill>
                  <a:srgbClr val="1E1B4A"/>
                </a:solidFill>
                <a:latin typeface="Montserrat ExtraBold"/>
              </a:rPr>
              <a:t>Что мы узнали из интервью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1E1B4A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5046E5"/>
                </a:solidFill>
                <a:latin typeface="Montserrat SemiBold"/>
              </a:rPr>
              <a:t>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5046E5"/>
                </a:solidFill>
                <a:latin typeface="Montserrat SemiBold"/>
              </a:rPr>
              <a:t>04</a:t>
            </a:r>
            <a:r>
              <a:rPr sz="1050" i="0">
                <a:solidFill>
                  <a:srgbClr val="9A9AB2"/>
                </a:solidFill>
                <a:latin typeface="Montserrat Medium"/>
              </a:rPr>
              <a:t>  /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i="0">
                <a:solidFill>
                  <a:srgbClr val="6A6A86"/>
                </a:solidFill>
                <a:latin typeface="Montserrat Medium"/>
              </a:rPr>
              <a:t>Глубинные интервью с ЦА — разные города, возраст и форматы. Боли повторялись у всех.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86000"/>
            <a:ext cx="3362858" cy="246888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88136" y="2596896"/>
            <a:ext cx="548640" cy="548640"/>
          </a:xfrm>
          <a:prstGeom prst="roundRect">
            <a:avLst>
              <a:gd name="adj" fmla="val 27999"/>
            </a:avLst>
          </a:prstGeom>
          <a:solidFill>
            <a:srgbClr val="DB4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91132" y="2799892"/>
            <a:ext cx="142646" cy="14264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3310128"/>
            <a:ext cx="281421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i="0">
                <a:solidFill>
                  <a:srgbClr val="1E1B4A"/>
                </a:solidFill>
                <a:latin typeface="Montserrat ExtraBold"/>
              </a:rPr>
              <a:t>Не знают, чем заняться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3968496"/>
            <a:ext cx="279593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300" i="0">
                <a:solidFill>
                  <a:srgbClr val="6A6A86"/>
                </a:solidFill>
                <a:latin typeface="Montserrat Medium"/>
              </a:rPr>
              <a:t>Хотят попробовать новое, но устают от поиска и откладывают.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4418" y="2286000"/>
            <a:ext cx="3362858" cy="246888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25314" y="2596896"/>
            <a:ext cx="548640" cy="548640"/>
          </a:xfrm>
          <a:prstGeom prst="roundRect">
            <a:avLst>
              <a:gd name="adj" fmla="val 27999"/>
            </a:avLst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28311" y="2799892"/>
            <a:ext cx="142646" cy="14264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5314" y="3310128"/>
            <a:ext cx="281421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i="0">
                <a:solidFill>
                  <a:srgbClr val="1E1B4A"/>
                </a:solidFill>
                <a:latin typeface="Montserrat ExtraBold"/>
              </a:rPr>
              <a:t>Выбор съедает вечер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5314" y="3968496"/>
            <a:ext cx="279593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300" i="0">
                <a:solidFill>
                  <a:srgbClr val="6A6A86"/>
                </a:solidFill>
                <a:latin typeface="Montserrat Medium"/>
              </a:rPr>
              <a:t>30–90 минут на 4+ сервиса — и снова привычное место.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1596" y="2286000"/>
            <a:ext cx="3362858" cy="246888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62492" y="2596896"/>
            <a:ext cx="548640" cy="548640"/>
          </a:xfrm>
          <a:prstGeom prst="roundRect">
            <a:avLst>
              <a:gd name="adj" fmla="val 27999"/>
            </a:avLst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65489" y="2799892"/>
            <a:ext cx="142646" cy="14264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2492" y="3310128"/>
            <a:ext cx="281421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i="0">
                <a:solidFill>
                  <a:srgbClr val="1E1B4A"/>
                </a:solidFill>
                <a:latin typeface="Montserrat ExtraBold"/>
              </a:rPr>
              <a:t>Нужен бюджет заранее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2492" y="3968496"/>
            <a:ext cx="279593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300" i="0">
                <a:solidFill>
                  <a:srgbClr val="6A6A86"/>
                </a:solidFill>
                <a:latin typeface="Montserrat Medium"/>
              </a:rPr>
              <a:t>Хотят понимать стоимость вечера ещё до того, как собрались.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983480"/>
            <a:ext cx="10637215" cy="1097280"/>
          </a:xfrm>
          <a:prstGeom prst="roundRect">
            <a:avLst>
              <a:gd name="adj" fmla="val 16666"/>
            </a:avLst>
          </a:prstGeom>
          <a:solidFill>
            <a:srgbClr val="EF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61288" y="5330952"/>
            <a:ext cx="384048" cy="384048"/>
          </a:xfrm>
          <a:prstGeom prst="ellipse">
            <a:avLst/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83080" y="5074920"/>
            <a:ext cx="935705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i="0">
                <a:solidFill>
                  <a:srgbClr val="5046E5"/>
                </a:solidFill>
                <a:latin typeface="Montserrat ExtraBold"/>
              </a:rPr>
              <a:t>Главный вывод:  </a:t>
            </a:r>
            <a:r>
              <a:rPr sz="1500" i="0">
                <a:solidFill>
                  <a:srgbClr val="1E1B4A"/>
                </a:solidFill>
                <a:latin typeface="Montserrat Medium"/>
              </a:rPr>
              <a:t>понятного бюджета до встречи нет нигде в структурированном виде — это и есть незакрытая боль.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1E1B4A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5046E5"/>
                </a:solidFill>
                <a:latin typeface="Montserrat SemiBold"/>
              </a:rPr>
              <a:t>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5046E5"/>
                </a:solidFill>
                <a:latin typeface="Montserrat SemiBold"/>
              </a:rPr>
              <a:t>04</a:t>
            </a:r>
            <a:r>
              <a:rPr sz="1050" i="0">
                <a:solidFill>
                  <a:srgbClr val="9A9AB2"/>
                </a:solidFill>
                <a:latin typeface="Montserrat Medium"/>
              </a:rPr>
              <a:t>  / 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i="0" spc="240">
                <a:solidFill>
                  <a:srgbClr val="5046E5"/>
                </a:solidFill>
                <a:latin typeface="Montserrat SemiBold"/>
              </a:rPr>
              <a:t>ЦЕЛЕВАЯ АУДИТОРИЯ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i="0">
                <a:solidFill>
                  <a:srgbClr val="1E1B4A"/>
                </a:solidFill>
                <a:latin typeface="Montserrat ExtraBold"/>
              </a:rPr>
              <a:t>Для кого эта проблема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1E1B4A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5046E5"/>
                </a:solidFill>
                <a:latin typeface="Montserrat SemiBold"/>
              </a:rPr>
              <a:t>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5046E5"/>
                </a:solidFill>
                <a:latin typeface="Montserrat SemiBold"/>
              </a:rPr>
              <a:t>05</a:t>
            </a:r>
            <a:r>
              <a:rPr sz="1050" i="0">
                <a:solidFill>
                  <a:srgbClr val="9A9AB2"/>
                </a:solidFill>
                <a:latin typeface="Montserrat Medium"/>
              </a:rPr>
              <a:t>  /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48006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2468880"/>
            <a:ext cx="1005840" cy="1005840"/>
          </a:xfrm>
          <a:prstGeom prst="ellipse">
            <a:avLst/>
          </a:prstGeom>
          <a:solidFill>
            <a:srgbClr val="E7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578608"/>
            <a:ext cx="694944" cy="694944"/>
          </a:xfrm>
          <a:prstGeom prst="ellipse">
            <a:avLst/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1005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700" i="0">
                <a:solidFill>
                  <a:srgbClr val="FFFFFF"/>
                </a:solidFill>
                <a:latin typeface="Montserrat ExtraBold"/>
              </a:rPr>
              <a:t>18
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4872" y="248716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i="0">
                <a:solidFill>
                  <a:srgbClr val="1E1B4A"/>
                </a:solidFill>
                <a:latin typeface="Montserrat ExtraBold"/>
              </a:rPr>
              <a:t>Молодые горожане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4872" y="290779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i="0">
                <a:solidFill>
                  <a:srgbClr val="5046E5"/>
                </a:solidFill>
                <a:latin typeface="Montserrat Medium"/>
              </a:rPr>
              <a:t>18–30 лет · города от 300 000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88720" y="3794760"/>
            <a:ext cx="3977639" cy="0"/>
          </a:xfrm>
          <a:prstGeom prst="bentConnector3">
            <a:avLst/>
          </a:prstGeom>
          <a:ln w="15240">
            <a:solidFill>
              <a:srgbClr val="E6E6F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88720" y="3986784"/>
            <a:ext cx="397763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i="0">
                <a:solidFill>
                  <a:srgbClr val="6A6A86"/>
                </a:solidFill>
                <a:latin typeface="Montserrat Medium"/>
              </a:rPr>
              <a:t>Регулярно проводят досуг вне дома, ограничены в бюджете и принимают решение сами или небольшой компанией.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2011680"/>
            <a:ext cx="5379415" cy="1371600"/>
          </a:xfrm>
          <a:prstGeom prst="roundRect">
            <a:avLst>
              <a:gd name="adj" fmla="val 13333"/>
            </a:avLst>
          </a:prstGeom>
          <a:solidFill>
            <a:srgbClr val="1E1B4A"/>
          </a:solidFill>
          <a:ln>
            <a:noFill/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249424"/>
            <a:ext cx="4465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i="0" spc="240">
                <a:solidFill>
                  <a:srgbClr val="8B83FF"/>
                </a:solidFill>
                <a:latin typeface="Montserrat SemiBold"/>
              </a:rPr>
              <a:t>РАЗМЕР АУДИТОРИИ (SAM)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514600"/>
            <a:ext cx="446501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i="0">
                <a:solidFill>
                  <a:srgbClr val="FFFFFF"/>
                </a:solidFill>
                <a:latin typeface="Montserrat Black"/>
              </a:rPr>
              <a:t>≈ 8 млн</a:t>
            </a:r>
            <a:r>
              <a:rPr sz="1400" i="0">
                <a:solidFill>
                  <a:srgbClr val="C9C7E6"/>
                </a:solidFill>
                <a:latin typeface="Montserrat Medium"/>
              </a:rPr>
              <a:t>   человек
   в 26 городах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3611880"/>
            <a:ext cx="5379415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36207" y="3730752"/>
            <a:ext cx="384048" cy="384048"/>
          </a:xfrm>
          <a:prstGeom prst="roundRect">
            <a:avLst>
              <a:gd name="adj" fmla="val 27999"/>
            </a:avLst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359103" y="3930456"/>
            <a:ext cx="53767" cy="53767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412870" y="3861328"/>
            <a:ext cx="92171" cy="122895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84848" y="3657600"/>
            <a:ext cx="446501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i="0">
                <a:solidFill>
                  <a:srgbClr val="1E1B4A"/>
                </a:solidFill>
                <a:latin typeface="Montserrat SemiBold"/>
              </a:rPr>
              <a:t>Быстро выбрать вариант  </a:t>
            </a:r>
            <a:r>
              <a:rPr sz="1250" i="0">
                <a:solidFill>
                  <a:srgbClr val="6A6A86"/>
                </a:solidFill>
                <a:latin typeface="Montserrat Medium"/>
              </a:rPr>
              <a:t>— без часа поиска по сервисам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4352544"/>
            <a:ext cx="5379415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36207" y="4471416"/>
            <a:ext cx="384048" cy="384048"/>
          </a:xfrm>
          <a:prstGeom prst="roundRect">
            <a:avLst>
              <a:gd name="adj" fmla="val 27999"/>
            </a:avLst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359103" y="4671120"/>
            <a:ext cx="53767" cy="53767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412870" y="4601992"/>
            <a:ext cx="92171" cy="122895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784848" y="4398264"/>
            <a:ext cx="446501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i="0">
                <a:solidFill>
                  <a:srgbClr val="1E1B4A"/>
                </a:solidFill>
                <a:latin typeface="Montserrat SemiBold"/>
              </a:rPr>
              <a:t>Понимать бюджет заранее  </a:t>
            </a:r>
            <a:r>
              <a:rPr sz="1250" i="0">
                <a:solidFill>
                  <a:srgbClr val="6A6A86"/>
                </a:solidFill>
                <a:latin typeface="Montserrat Medium"/>
              </a:rPr>
              <a:t>— сколько выйдет на человека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5093208"/>
            <a:ext cx="5379415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36207" y="5212080"/>
            <a:ext cx="384048" cy="384048"/>
          </a:xfrm>
          <a:prstGeom prst="roundRect">
            <a:avLst>
              <a:gd name="adj" fmla="val 27999"/>
            </a:avLst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359103" y="5411784"/>
            <a:ext cx="53767" cy="53767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412870" y="5342656"/>
            <a:ext cx="92171" cy="122895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784848" y="5138928"/>
            <a:ext cx="446501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i="0">
                <a:solidFill>
                  <a:srgbClr val="1E1B4A"/>
                </a:solidFill>
                <a:latin typeface="Montserrat SemiBold"/>
              </a:rPr>
              <a:t>Не терять вечер  </a:t>
            </a:r>
            <a:r>
              <a:rPr sz="1250" i="0">
                <a:solidFill>
                  <a:srgbClr val="6A6A86"/>
                </a:solidFill>
                <a:latin typeface="Montserrat Medium"/>
              </a:rPr>
              <a:t>— решение — за минуты, а не за час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1E1B4A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5046E5"/>
                </a:solidFill>
                <a:latin typeface="Montserrat SemiBold"/>
              </a:rPr>
              <a:t>Day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5046E5"/>
                </a:solidFill>
                <a:latin typeface="Montserrat SemiBold"/>
              </a:rPr>
              <a:t>05</a:t>
            </a:r>
            <a:r>
              <a:rPr sz="1050" i="0">
                <a:solidFill>
                  <a:srgbClr val="9A9AB2"/>
                </a:solidFill>
                <a:latin typeface="Montserrat Medium"/>
              </a:rPr>
              <a:t>  / 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1E1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1920240"/>
            <a:ext cx="6035040" cy="6035040"/>
          </a:xfrm>
          <a:prstGeom prst="ellipse">
            <a:avLst/>
          </a:prstGeom>
          <a:solidFill>
            <a:srgbClr val="2A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554480" y="4206240"/>
            <a:ext cx="4206240" cy="4206240"/>
          </a:xfrm>
          <a:prstGeom prst="ellipse">
            <a:avLst/>
          </a:prstGeom>
          <a:solidFill>
            <a:srgbClr val="2A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i="0" spc="260">
                <a:solidFill>
                  <a:srgbClr val="8B83FF"/>
                </a:solidFill>
                <a:latin typeface="Montserrat SemiBold"/>
              </a:rPr>
              <a:t>А ТЕПЕРЬ — ТА ЖЕ ПЯТНИЦА, ТА ЖЕ КОМПАНИЯ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298448"/>
            <a:ext cx="749807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800" i="0">
                <a:solidFill>
                  <a:srgbClr val="FFFFFF"/>
                </a:solidFill>
                <a:latin typeface="Montserrat ExtraBold"/>
              </a:rPr>
              <a:t>А если бы у компании
был </a:t>
            </a:r>
            <a:r>
              <a:rPr sz="3800" i="0">
                <a:solidFill>
                  <a:srgbClr val="8B83FF"/>
                </a:solidFill>
                <a:latin typeface="Montserrat ExtraBold"/>
              </a:rPr>
              <a:t>SpenDay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3063240"/>
            <a:ext cx="457200" cy="457200"/>
          </a:xfrm>
          <a:prstGeom prst="ellipse">
            <a:avLst/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i="0">
                <a:solidFill>
                  <a:srgbClr val="FFFFFF"/>
                </a:solidFill>
                <a:latin typeface="Montserrat Extra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3026664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50" i="0">
                <a:solidFill>
                  <a:srgbClr val="FFFFFF"/>
                </a:solidFill>
                <a:latin typeface="Montserrat SemiBold"/>
              </a:rPr>
              <a:t>Открываем ленту сценариев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333756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i="0">
                <a:solidFill>
                  <a:srgbClr val="B9B7DE"/>
                </a:solidFill>
                <a:latin typeface="Montserrat Medium"/>
              </a:rPr>
              <a:t>вместо четырёх разных сервисов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831336"/>
            <a:ext cx="457200" cy="457200"/>
          </a:xfrm>
          <a:prstGeom prst="ellipse">
            <a:avLst/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8313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i="0">
                <a:solidFill>
                  <a:srgbClr val="FFFFFF"/>
                </a:solidFill>
                <a:latin typeface="Montserrat Extra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379476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50" i="0">
                <a:solidFill>
                  <a:srgbClr val="FFFFFF"/>
                </a:solidFill>
                <a:latin typeface="Montserrat SemiBold"/>
              </a:rPr>
              <a:t>Ставим фильтры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4105656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i="0">
                <a:solidFill>
                  <a:srgbClr val="B9B7DE"/>
                </a:solidFill>
                <a:latin typeface="Montserrat Medium"/>
              </a:rPr>
              <a:t>«с друзьями» · город · бюджет · формат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599432"/>
            <a:ext cx="457200" cy="457200"/>
          </a:xfrm>
          <a:prstGeom prst="ellipse">
            <a:avLst/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994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i="0">
                <a:solidFill>
                  <a:srgbClr val="FFFFFF"/>
                </a:solidFill>
                <a:latin typeface="Montserrat Extra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4562856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50" i="0">
                <a:solidFill>
                  <a:srgbClr val="FFFFFF"/>
                </a:solidFill>
                <a:latin typeface="Montserrat SemiBold"/>
              </a:rPr>
              <a:t>Видим готовые варианты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5607" y="4873752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i="0">
                <a:solidFill>
                  <a:srgbClr val="B9B7DE"/>
                </a:solidFill>
                <a:latin typeface="Montserrat Medium"/>
              </a:rPr>
              <a:t>с бюджетом на человека сразу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5367528"/>
            <a:ext cx="457200" cy="457200"/>
          </a:xfrm>
          <a:prstGeom prst="ellipse">
            <a:avLst/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3675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i="0">
                <a:solidFill>
                  <a:srgbClr val="FFFFFF"/>
                </a:solidFill>
                <a:latin typeface="Montserrat ExtraBol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5607" y="5330952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50" i="0">
                <a:solidFill>
                  <a:srgbClr val="FFFFFF"/>
                </a:solidFill>
                <a:latin typeface="Montserrat SemiBold"/>
              </a:rPr>
              <a:t>Один понятный путь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5607" y="5641848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i="0">
                <a:solidFill>
                  <a:srgbClr val="B9B7DE"/>
                </a:solidFill>
                <a:latin typeface="Montserrat Medium"/>
              </a:rPr>
              <a:t>вместо хаоса из карт, соцсетей и чатов</a:t>
            </a:r>
          </a:p>
        </p:txBody>
      </p:sp>
      <p:sp>
        <p:nvSpPr>
          <p:cNvPr id="23" name="Oval 22"/>
          <p:cNvSpPr/>
          <p:nvPr/>
        </p:nvSpPr>
        <p:spPr>
          <a:xfrm>
            <a:off x="7726679" y="914400"/>
            <a:ext cx="4114800" cy="5486400"/>
          </a:xfrm>
          <a:prstGeom prst="ellipse">
            <a:avLst/>
          </a:prstGeom>
          <a:solidFill>
            <a:srgbClr val="2A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hone_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8350" y="960120"/>
            <a:ext cx="3282899" cy="5989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FFFFFF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8B83FF"/>
                </a:solidFill>
                <a:latin typeface="Montserrat SemiBold"/>
              </a:rPr>
              <a:t>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8B83FF"/>
                </a:solidFill>
                <a:latin typeface="Montserrat SemiBold"/>
              </a:rPr>
              <a:t>06</a:t>
            </a:r>
            <a:r>
              <a:rPr sz="1050" i="0">
                <a:solidFill>
                  <a:srgbClr val="C9C7E6"/>
                </a:solidFill>
                <a:latin typeface="Montserrat Medium"/>
              </a:rPr>
              <a:t>  / 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i="0" spc="240">
                <a:solidFill>
                  <a:srgbClr val="5046E5"/>
                </a:solidFill>
                <a:latin typeface="Montserrat SemiBold"/>
              </a:rPr>
              <a:t>ПРОДУКТ ·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i="0">
                <a:solidFill>
                  <a:srgbClr val="1E1B4A"/>
                </a:solidFill>
                <a:latin typeface="Montserrat ExtraBold"/>
              </a:rPr>
              <a:t>Выбор готового сценария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1E1B4A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5046E5"/>
                </a:solidFill>
                <a:latin typeface="Montserrat SemiBold"/>
              </a:rPr>
              <a:t>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5046E5"/>
                </a:solidFill>
                <a:latin typeface="Montserrat SemiBold"/>
              </a:rPr>
              <a:t>07</a:t>
            </a:r>
            <a:r>
              <a:rPr sz="1050" i="0">
                <a:solidFill>
                  <a:srgbClr val="9A9AB2"/>
                </a:solidFill>
                <a:latin typeface="Montserrat Medium"/>
              </a:rPr>
              <a:t>  /  17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1554480"/>
            <a:ext cx="3657600" cy="5120640"/>
          </a:xfrm>
          <a:prstGeom prst="ellipse">
            <a:avLst/>
          </a:prstGeom>
          <a:solidFill>
            <a:srgbClr val="EC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hone_fee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065" y="1783080"/>
            <a:ext cx="2506030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0" y="1874519"/>
            <a:ext cx="59280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i="0">
                <a:solidFill>
                  <a:srgbClr val="1E1B4A"/>
                </a:solidFill>
                <a:latin typeface="Montserrat SemiBold"/>
              </a:rPr>
              <a:t>Карточка показывает всё, что нужно для решения — сразу: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2752344"/>
            <a:ext cx="256032" cy="256032"/>
          </a:xfrm>
          <a:prstGeom prst="ellipse">
            <a:avLst/>
          </a:prstGeom>
          <a:solidFill>
            <a:srgbClr val="DB4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25312" y="2660904"/>
            <a:ext cx="5470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E1B4A"/>
                </a:solidFill>
                <a:latin typeface="Montserrat SemiBold"/>
              </a:rPr>
              <a:t>Название и ситуация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25312" y="2971800"/>
            <a:ext cx="5470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i="0">
                <a:solidFill>
                  <a:srgbClr val="6A6A86"/>
                </a:solidFill>
                <a:latin typeface="Montserrat Medium"/>
              </a:rPr>
              <a:t>свидание, с друзьями, прогулка…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0" y="3502152"/>
            <a:ext cx="256032" cy="256032"/>
          </a:xfrm>
          <a:prstGeom prst="ellipse">
            <a:avLst/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25312" y="3410712"/>
            <a:ext cx="5470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E1B4A"/>
                </a:solidFill>
                <a:latin typeface="Montserrat SemiBold"/>
              </a:rPr>
              <a:t>Бюджет на человека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3721608"/>
            <a:ext cx="5470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i="0">
                <a:solidFill>
                  <a:srgbClr val="6A6A86"/>
                </a:solidFill>
                <a:latin typeface="Montserrat Medium"/>
              </a:rPr>
              <a:t>понятная сумма ещё до клика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0" y="4251959"/>
            <a:ext cx="256032" cy="256032"/>
          </a:xfrm>
          <a:prstGeom prst="ellipse">
            <a:avLst/>
          </a:prstGeom>
          <a:solidFill>
            <a:srgbClr val="1E1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25312" y="4160520"/>
            <a:ext cx="5470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E1B4A"/>
                </a:solidFill>
                <a:latin typeface="Montserrat SemiBold"/>
              </a:rPr>
              <a:t>Длительность и места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25312" y="4471416"/>
            <a:ext cx="5470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i="0">
                <a:solidFill>
                  <a:srgbClr val="6A6A86"/>
                </a:solidFill>
                <a:latin typeface="Montserrat Medium"/>
              </a:rPr>
              <a:t>сколько времени и где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0" y="5001768"/>
            <a:ext cx="256032" cy="256032"/>
          </a:xfrm>
          <a:prstGeom prst="ellipse">
            <a:avLst/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25312" y="4910328"/>
            <a:ext cx="5470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E1B4A"/>
                </a:solidFill>
                <a:latin typeface="Montserrat SemiBold"/>
              </a:rPr>
              <a:t>Формат и теги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5312" y="5221224"/>
            <a:ext cx="5470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i="0">
                <a:solidFill>
                  <a:srgbClr val="6A6A86"/>
                </a:solidFill>
                <a:latin typeface="Montserrat Medium"/>
              </a:rPr>
              <a:t>дома, в городе, на природе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5742432"/>
            <a:ext cx="5928055" cy="777240"/>
          </a:xfrm>
          <a:prstGeom prst="roundRect">
            <a:avLst>
              <a:gd name="adj" fmla="val 18823"/>
            </a:avLst>
          </a:prstGeom>
          <a:solidFill>
            <a:srgbClr val="EFEEF9"/>
          </a:solidFill>
          <a:ln>
            <a:noFill/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79008" y="5742432"/>
            <a:ext cx="537941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i="0">
                <a:solidFill>
                  <a:srgbClr val="5046E5"/>
                </a:solidFill>
                <a:latin typeface="Montserrat SemiBold"/>
              </a:rPr>
              <a:t>Не список мест — </a:t>
            </a:r>
            <a:r>
              <a:rPr sz="1450" i="0">
                <a:solidFill>
                  <a:srgbClr val="1E1B4A"/>
                </a:solidFill>
                <a:latin typeface="Montserrat Medium"/>
              </a:rPr>
              <a:t>готовый вариант вечера.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1E1B4A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5046E5"/>
                </a:solidFill>
                <a:latin typeface="Montserrat SemiBold"/>
              </a:rPr>
              <a:t>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5046E5"/>
                </a:solidFill>
                <a:latin typeface="Montserrat SemiBold"/>
              </a:rPr>
              <a:t>07</a:t>
            </a:r>
            <a:r>
              <a:rPr sz="1050" i="0">
                <a:solidFill>
                  <a:srgbClr val="9A9AB2"/>
                </a:solidFill>
                <a:latin typeface="Montserrat Medium"/>
              </a:rPr>
              <a:t>  / 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i="0" spc="240">
                <a:solidFill>
                  <a:srgbClr val="5046E5"/>
                </a:solidFill>
                <a:latin typeface="Montserrat SemiBold"/>
              </a:rPr>
              <a:t>ПРОДУКТ ·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i="0">
                <a:solidFill>
                  <a:srgbClr val="1E1B4A"/>
                </a:solidFill>
                <a:latin typeface="Montserrat ExtraBold"/>
              </a:rPr>
              <a:t>Просмотр сценария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1E1B4A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5046E5"/>
                </a:solidFill>
                <a:latin typeface="Montserrat SemiBold"/>
              </a:rPr>
              <a:t>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5046E5"/>
                </a:solidFill>
                <a:latin typeface="Montserrat SemiBold"/>
              </a:rPr>
              <a:t>08</a:t>
            </a:r>
            <a:r>
              <a:rPr sz="1050" i="0">
                <a:solidFill>
                  <a:srgbClr val="9A9AB2"/>
                </a:solidFill>
                <a:latin typeface="Montserrat Medium"/>
              </a:rPr>
              <a:t>  /  17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1554480"/>
            <a:ext cx="3657600" cy="5120640"/>
          </a:xfrm>
          <a:prstGeom prst="ellipse">
            <a:avLst/>
          </a:prstGeom>
          <a:solidFill>
            <a:srgbClr val="EC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hone_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535" y="1737360"/>
            <a:ext cx="2531090" cy="4617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0" y="1828800"/>
            <a:ext cx="59280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i="0">
                <a:solidFill>
                  <a:srgbClr val="1E1B4A"/>
                </a:solidFill>
                <a:latin typeface="Montserrat SemiBold"/>
              </a:rPr>
              <a:t>Внутри сценария — весь вечер по шагам и стоимости: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2542032"/>
            <a:ext cx="5928055" cy="585216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0" y="2660903"/>
            <a:ext cx="347472" cy="347472"/>
          </a:xfrm>
          <a:prstGeom prst="ellipse">
            <a:avLst/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2660903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i="0">
                <a:solidFill>
                  <a:srgbClr val="FFFFFF"/>
                </a:solidFill>
                <a:latin typeface="Montserrat Semi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3056" y="2560320"/>
            <a:ext cx="4007815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i="0">
                <a:solidFill>
                  <a:srgbClr val="1E1B4A"/>
                </a:solidFill>
                <a:latin typeface="Montserrat SemiBold"/>
              </a:rPr>
              <a:t>Прогулка по набережной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42855" y="2560320"/>
            <a:ext cx="12344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i="0">
                <a:solidFill>
                  <a:srgbClr val="14B886"/>
                </a:solidFill>
                <a:latin typeface="Montserrat SemiBold"/>
              </a:rPr>
              <a:t>бесплатно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3218687"/>
            <a:ext cx="5928055" cy="585216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69280" y="3337559"/>
            <a:ext cx="347472" cy="347472"/>
          </a:xfrm>
          <a:prstGeom prst="ellipse">
            <a:avLst/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3337559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i="0">
                <a:solidFill>
                  <a:srgbClr val="FFFFFF"/>
                </a:solidFill>
                <a:latin typeface="Montserrat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3236975"/>
            <a:ext cx="4007815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i="0">
                <a:solidFill>
                  <a:srgbClr val="1E1B4A"/>
                </a:solidFill>
                <a:latin typeface="Montserrat SemiBold"/>
              </a:rPr>
              <a:t>Ужин в ресторане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42855" y="3236975"/>
            <a:ext cx="12344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i="0">
                <a:solidFill>
                  <a:srgbClr val="1E1B4A"/>
                </a:solidFill>
                <a:latin typeface="Montserrat SemiBold"/>
              </a:rPr>
              <a:t>от 2 500 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3895344"/>
            <a:ext cx="5928055" cy="585216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69280" y="4014215"/>
            <a:ext cx="347472" cy="347472"/>
          </a:xfrm>
          <a:prstGeom prst="ellipse">
            <a:avLst/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4014215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i="0">
                <a:solidFill>
                  <a:srgbClr val="FFFFFF"/>
                </a:solidFill>
                <a:latin typeface="Montserrat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3056" y="3913631"/>
            <a:ext cx="4007815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i="0">
                <a:solidFill>
                  <a:srgbClr val="1E1B4A"/>
                </a:solidFill>
                <a:latin typeface="Montserrat SemiBold"/>
              </a:rPr>
              <a:t>Коктейли в баре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42855" y="3913631"/>
            <a:ext cx="12344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i="0">
                <a:solidFill>
                  <a:srgbClr val="1E1B4A"/>
                </a:solidFill>
                <a:latin typeface="Montserrat SemiBold"/>
              </a:rPr>
              <a:t>от 1 700 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4645152"/>
            <a:ext cx="2331720" cy="603504"/>
          </a:xfrm>
          <a:prstGeom prst="roundRect">
            <a:avLst>
              <a:gd name="adj" fmla="val 50000"/>
            </a:avLst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350" i="0">
                <a:solidFill>
                  <a:srgbClr val="FFFFFF"/>
                </a:solidFill>
                <a:latin typeface="Montserrat SemiBold"/>
              </a:rPr>
              <a:t>~ 2 100 ₽ на человека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4645152"/>
            <a:ext cx="2240280" cy="603504"/>
          </a:xfrm>
          <a:prstGeom prst="roundRect">
            <a:avLst>
              <a:gd name="adj" fmla="val 50000"/>
            </a:avLst>
          </a:prstGeom>
          <a:solidFill>
            <a:srgbClr val="EF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5-Point Star 26"/>
          <p:cNvSpPr/>
          <p:nvPr/>
        </p:nvSpPr>
        <p:spPr>
          <a:xfrm>
            <a:off x="8193024" y="4828032"/>
            <a:ext cx="246888" cy="246888"/>
          </a:xfrm>
          <a:prstGeom prst="star5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31352" y="4645152"/>
            <a:ext cx="1600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i="0">
                <a:solidFill>
                  <a:srgbClr val="1E1B4A"/>
                </a:solidFill>
                <a:latin typeface="Montserrat SemiBold"/>
              </a:rPr>
              <a:t>4,8 · 124 отзыва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5486400"/>
            <a:ext cx="59280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i="0">
                <a:solidFill>
                  <a:srgbClr val="6A6A86"/>
                </a:solidFill>
                <a:latin typeface="Montserrat Medium"/>
              </a:rPr>
              <a:t>Пользователь сразу понимает, что будет и сколько это стоит.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1E1B4A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5046E5"/>
                </a:solidFill>
                <a:latin typeface="Montserrat SemiBold"/>
              </a:rPr>
              <a:t>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5046E5"/>
                </a:solidFill>
                <a:latin typeface="Montserrat SemiBold"/>
              </a:rPr>
              <a:t>08</a:t>
            </a:r>
            <a:r>
              <a:rPr sz="1050" i="0">
                <a:solidFill>
                  <a:srgbClr val="9A9AB2"/>
                </a:solidFill>
                <a:latin typeface="Montserrat Medium"/>
              </a:rPr>
              <a:t>  / 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i="0" spc="240">
                <a:solidFill>
                  <a:srgbClr val="5046E5"/>
                </a:solidFill>
                <a:latin typeface="Montserrat SemiBold"/>
              </a:rPr>
              <a:t>ПРОДУКТ ·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i="0">
                <a:solidFill>
                  <a:srgbClr val="1E1B4A"/>
                </a:solidFill>
                <a:latin typeface="Montserrat ExtraBold"/>
              </a:rPr>
              <a:t>Согласование с компанией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1E1B4A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5046E5"/>
                </a:solidFill>
                <a:latin typeface="Montserrat SemiBold"/>
              </a:rPr>
              <a:t>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5046E5"/>
                </a:solidFill>
                <a:latin typeface="Montserrat SemiBold"/>
              </a:rPr>
              <a:t>09</a:t>
            </a:r>
            <a:r>
              <a:rPr sz="1050" i="0">
                <a:solidFill>
                  <a:srgbClr val="9A9AB2"/>
                </a:solidFill>
                <a:latin typeface="Montserrat Medium"/>
              </a:rPr>
              <a:t>  /  17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645919"/>
            <a:ext cx="6035040" cy="5120640"/>
          </a:xfrm>
          <a:prstGeom prst="ellipse">
            <a:avLst/>
          </a:prstGeom>
          <a:solidFill>
            <a:srgbClr val="EC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hone_v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15" y="1920240"/>
            <a:ext cx="2430849" cy="4434840"/>
          </a:xfrm>
          <a:prstGeom prst="rect">
            <a:avLst/>
          </a:prstGeom>
        </p:spPr>
      </p:pic>
      <p:pic>
        <p:nvPicPr>
          <p:cNvPr id="9" name="Picture 8" descr="phone_vot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775" y="1920240"/>
            <a:ext cx="2430849" cy="4434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40880" y="1874519"/>
            <a:ext cx="43735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i="0">
                <a:solidFill>
                  <a:srgbClr val="1E1B4A"/>
                </a:solidFill>
                <a:latin typeface="Montserrat SemiBold"/>
              </a:rPr>
              <a:t>Скинул ссылку — компания выбрала за 5 минут: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2743200"/>
            <a:ext cx="420624" cy="420624"/>
          </a:xfrm>
          <a:prstGeom prst="roundRect">
            <a:avLst>
              <a:gd name="adj" fmla="val 27999"/>
            </a:avLst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7175479" y="2961924"/>
            <a:ext cx="58888" cy="58887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234367" y="2886212"/>
            <a:ext cx="100949" cy="134599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44383" y="2706624"/>
            <a:ext cx="373349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i="0">
                <a:solidFill>
                  <a:srgbClr val="1E1B4A"/>
                </a:solidFill>
                <a:latin typeface="Montserrat Medium"/>
              </a:rPr>
              <a:t>Поделиться сценариями в общий чат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3529584"/>
            <a:ext cx="420624" cy="420624"/>
          </a:xfrm>
          <a:prstGeom prst="roundRect">
            <a:avLst>
              <a:gd name="adj" fmla="val 27999"/>
            </a:avLst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7175479" y="3748308"/>
            <a:ext cx="58888" cy="58887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234367" y="3672596"/>
            <a:ext cx="100949" cy="134599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644383" y="3493008"/>
            <a:ext cx="373349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i="0">
                <a:solidFill>
                  <a:srgbClr val="1E1B4A"/>
                </a:solidFill>
                <a:latin typeface="Montserrat Medium"/>
              </a:rPr>
              <a:t>Друзья голосуют без регистрации и скачивания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4315968"/>
            <a:ext cx="420624" cy="420624"/>
          </a:xfrm>
          <a:prstGeom prst="roundRect">
            <a:avLst>
              <a:gd name="adj" fmla="val 27999"/>
            </a:avLst>
          </a:prstGeom>
          <a:solidFill>
            <a:srgbClr val="DB4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75479" y="4534692"/>
            <a:ext cx="58888" cy="58887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234367" y="4458980"/>
            <a:ext cx="100949" cy="134599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644383" y="4279392"/>
            <a:ext cx="373349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i="0">
                <a:solidFill>
                  <a:srgbClr val="1E1B4A"/>
                </a:solidFill>
                <a:latin typeface="Montserrat Medium"/>
              </a:rPr>
              <a:t>Результат виден всем в реальном времени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5157216"/>
            <a:ext cx="4373575" cy="868680"/>
          </a:xfrm>
          <a:prstGeom prst="roundRect">
            <a:avLst>
              <a:gd name="adj" fmla="val 18947"/>
            </a:avLst>
          </a:prstGeom>
          <a:solidFill>
            <a:srgbClr val="1E1B4A"/>
          </a:solidFill>
          <a:ln>
            <a:noFill/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1776" y="5157216"/>
            <a:ext cx="38249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i="0">
                <a:solidFill>
                  <a:srgbClr val="8B83FF"/>
                </a:solidFill>
                <a:latin typeface="Montserrat SemiBold"/>
              </a:rPr>
              <a:t>Канал роста: </a:t>
            </a:r>
            <a:r>
              <a:rPr sz="1350" i="0">
                <a:solidFill>
                  <a:srgbClr val="FFFFFF"/>
                </a:solidFill>
                <a:latin typeface="Montserrat Medium"/>
              </a:rPr>
              <a:t>каждое голосование — это 3–7 человек, которые видят SpenDay.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1E1B4A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5046E5"/>
                </a:solidFill>
                <a:latin typeface="Montserrat SemiBold"/>
              </a:rPr>
              <a:t>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5046E5"/>
                </a:solidFill>
                <a:latin typeface="Montserrat SemiBold"/>
              </a:rPr>
              <a:t>09</a:t>
            </a:r>
            <a:r>
              <a:rPr sz="1050" i="0">
                <a:solidFill>
                  <a:srgbClr val="9A9AB2"/>
                </a:solidFill>
                <a:latin typeface="Montserrat Medium"/>
              </a:rPr>
              <a:t>  / 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i="0" spc="240">
                <a:solidFill>
                  <a:srgbClr val="5046E5"/>
                </a:solidFill>
                <a:latin typeface="Montserrat SemiBold"/>
              </a:rPr>
              <a:t>ПРОДУКТ ·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000" i="0">
                <a:solidFill>
                  <a:srgbClr val="1E1B4A"/>
                </a:solidFill>
                <a:latin typeface="Montserrat ExtraBold"/>
              </a:rPr>
              <a:t>После встречи: расходы и сохранение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1E1B4A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5046E5"/>
                </a:solidFill>
                <a:latin typeface="Montserrat SemiBold"/>
              </a:rPr>
              <a:t>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5046E5"/>
                </a:solidFill>
                <a:latin typeface="Montserrat SemiBold"/>
              </a:rPr>
              <a:t>10</a:t>
            </a:r>
            <a:r>
              <a:rPr sz="1050" i="0">
                <a:solidFill>
                  <a:srgbClr val="9A9AB2"/>
                </a:solidFill>
                <a:latin typeface="Montserrat Medium"/>
              </a:rPr>
              <a:t>  /  17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645919"/>
            <a:ext cx="6035040" cy="5120640"/>
          </a:xfrm>
          <a:prstGeom prst="ellipse">
            <a:avLst/>
          </a:prstGeom>
          <a:solidFill>
            <a:srgbClr val="EC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hone_cal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145" y="1874519"/>
            <a:ext cx="2405789" cy="4389120"/>
          </a:xfrm>
          <a:prstGeom prst="rect">
            <a:avLst/>
          </a:prstGeom>
        </p:spPr>
      </p:pic>
      <p:pic>
        <p:nvPicPr>
          <p:cNvPr id="9" name="Picture 8" descr="phone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305" y="1874519"/>
            <a:ext cx="2405789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40880" y="1828800"/>
            <a:ext cx="43735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50" i="0">
                <a:solidFill>
                  <a:srgbClr val="1E1B4A"/>
                </a:solidFill>
                <a:latin typeface="Montserrat SemiBold"/>
              </a:rPr>
              <a:t>SpenDay закрывает весь путь вечера: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2468880"/>
            <a:ext cx="420624" cy="420624"/>
          </a:xfrm>
          <a:prstGeom prst="roundRect">
            <a:avLst>
              <a:gd name="adj" fmla="val 27999"/>
            </a:avLst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7175479" y="2687604"/>
            <a:ext cx="58888" cy="58887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234367" y="2611892"/>
            <a:ext cx="100949" cy="134599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44383" y="2414016"/>
            <a:ext cx="37334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i="0">
                <a:solidFill>
                  <a:srgbClr val="1E1B4A"/>
                </a:solidFill>
                <a:latin typeface="Montserrat SemiBold"/>
              </a:rPr>
              <a:t>Калькулятор расходов  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6A6A86"/>
                </a:solidFill>
                <a:latin typeface="Montserrat Medium"/>
              </a:rPr>
              <a:t>кто кому сколько должен — без регистрации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3236976"/>
            <a:ext cx="420624" cy="420624"/>
          </a:xfrm>
          <a:prstGeom prst="roundRect">
            <a:avLst>
              <a:gd name="adj" fmla="val 27999"/>
            </a:avLst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7175479" y="3455700"/>
            <a:ext cx="58888" cy="58887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234367" y="3379988"/>
            <a:ext cx="100949" cy="134599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644383" y="3182112"/>
            <a:ext cx="37334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i="0">
                <a:solidFill>
                  <a:srgbClr val="1E1B4A"/>
                </a:solidFill>
                <a:latin typeface="Montserrat SemiBold"/>
              </a:rPr>
              <a:t>Сохранение сценария  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6A6A86"/>
                </a:solidFill>
                <a:latin typeface="Montserrat Medium"/>
              </a:rPr>
              <a:t>удачный вечер — в один тап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4005072"/>
            <a:ext cx="420624" cy="420624"/>
          </a:xfrm>
          <a:prstGeom prst="roundRect">
            <a:avLst>
              <a:gd name="adj" fmla="val 27999"/>
            </a:avLst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75479" y="4223796"/>
            <a:ext cx="58888" cy="58887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234367" y="4148084"/>
            <a:ext cx="100949" cy="134599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644383" y="3950208"/>
            <a:ext cx="37334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i="0">
                <a:solidFill>
                  <a:srgbClr val="1E1B4A"/>
                </a:solidFill>
                <a:latin typeface="Montserrat SemiBold"/>
              </a:rPr>
              <a:t>Личный календарь  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6A6A86"/>
                </a:solidFill>
                <a:latin typeface="Montserrat Medium"/>
              </a:rPr>
              <a:t>история вечеров и план на будущее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4882896"/>
            <a:ext cx="4373575" cy="566928"/>
          </a:xfrm>
          <a:prstGeom prst="roundRect">
            <a:avLst>
              <a:gd name="adj" fmla="val 25806"/>
            </a:avLst>
          </a:prstGeom>
          <a:solidFill>
            <a:srgbClr val="EFEEF9"/>
          </a:solidFill>
          <a:ln>
            <a:noFill/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4882896"/>
            <a:ext cx="8747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i="0">
                <a:solidFill>
                  <a:srgbClr val="5046E5"/>
                </a:solidFill>
                <a:latin typeface="Montserrat SemiBold"/>
              </a:rPr>
              <a:t>Выбрать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05867" y="4882896"/>
            <a:ext cx="2194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i="0">
                <a:solidFill>
                  <a:srgbClr val="9A9AB2"/>
                </a:solidFill>
                <a:latin typeface="Montserrat SemiBold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15595" y="4882896"/>
            <a:ext cx="8747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i="0">
                <a:solidFill>
                  <a:srgbClr val="1E1B4A"/>
                </a:solidFill>
                <a:latin typeface="Montserrat SemiBold"/>
              </a:rPr>
              <a:t>Согласовать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0582" y="4882896"/>
            <a:ext cx="2194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i="0">
                <a:solidFill>
                  <a:srgbClr val="9A9AB2"/>
                </a:solidFill>
                <a:latin typeface="Montserrat SemiBold"/>
              </a:rP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0310" y="4882896"/>
            <a:ext cx="8747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i="0">
                <a:solidFill>
                  <a:srgbClr val="1E1B4A"/>
                </a:solidFill>
                <a:latin typeface="Montserrat SemiBold"/>
              </a:rPr>
              <a:t>Сходить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297" y="4882896"/>
            <a:ext cx="2194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i="0">
                <a:solidFill>
                  <a:srgbClr val="9A9AB2"/>
                </a:solidFill>
                <a:latin typeface="Montserrat SemiBold"/>
              </a:rPr>
              <a:t>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65025" y="4882896"/>
            <a:ext cx="8747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i="0">
                <a:solidFill>
                  <a:srgbClr val="1E1B4A"/>
                </a:solidFill>
                <a:latin typeface="Montserrat SemiBold"/>
              </a:rPr>
              <a:t>Разделить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30012" y="4882896"/>
            <a:ext cx="2194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i="0">
                <a:solidFill>
                  <a:srgbClr val="9A9AB2"/>
                </a:solidFill>
                <a:latin typeface="Montserrat SemiBold"/>
              </a:rPr>
              <a:t>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39740" y="4882896"/>
            <a:ext cx="8747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i="0">
                <a:solidFill>
                  <a:srgbClr val="5046E5"/>
                </a:solidFill>
                <a:latin typeface="Montserrat SemiBold"/>
              </a:rPr>
              <a:t>Сохранить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1E1B4A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5046E5"/>
                </a:solidFill>
                <a:latin typeface="Montserrat SemiBold"/>
              </a:rPr>
              <a:t>Day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5046E5"/>
                </a:solidFill>
                <a:latin typeface="Montserrat SemiBold"/>
              </a:rPr>
              <a:t>10</a:t>
            </a:r>
            <a:r>
              <a:rPr sz="1050" i="0">
                <a:solidFill>
                  <a:srgbClr val="9A9AB2"/>
                </a:solidFill>
                <a:latin typeface="Montserrat Medium"/>
              </a:rPr>
              <a:t>  / 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i="0" spc="240">
                <a:solidFill>
                  <a:srgbClr val="5046E5"/>
                </a:solidFill>
                <a:latin typeface="Montserrat SemiBold"/>
              </a:rPr>
              <a:t>РЫНОК И КОНКУРЕНТЫ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i="0">
                <a:solidFill>
                  <a:srgbClr val="1E1B4A"/>
                </a:solidFill>
                <a:latin typeface="Montserrat ExtraBold"/>
              </a:rPr>
              <a:t>Какие альтернативы есть сейчас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1E1B4A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5046E5"/>
                </a:solidFill>
                <a:latin typeface="Montserrat SemiBold"/>
              </a:rPr>
              <a:t>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5046E5"/>
                </a:solidFill>
                <a:latin typeface="Montserrat SemiBold"/>
              </a:rPr>
              <a:t>11</a:t>
            </a:r>
            <a:r>
              <a:rPr sz="1050" i="0">
                <a:solidFill>
                  <a:srgbClr val="9A9AB2"/>
                </a:solidFill>
                <a:latin typeface="Montserrat Medium"/>
              </a:rPr>
              <a:t>  /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i="0">
                <a:solidFill>
                  <a:srgbClr val="6A6A86"/>
                </a:solidFill>
                <a:latin typeface="Montserrat Medium"/>
              </a:rPr>
              <a:t>Каждый сервис закрывает свой кусок пути — собрать решение всё равно приходится самому.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77440"/>
            <a:ext cx="2467279" cy="3383280"/>
          </a:xfrm>
          <a:prstGeom prst="roundRect">
            <a:avLst>
              <a:gd name="adj" fmla="val 6670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377440"/>
            <a:ext cx="2467279" cy="128016"/>
          </a:xfrm>
          <a:prstGeom prst="roundRect">
            <a:avLst>
              <a:gd name="adj" fmla="val 50000"/>
            </a:avLst>
          </a:prstGeom>
          <a:solidFill>
            <a:srgbClr val="DB4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19643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50" i="0">
                <a:solidFill>
                  <a:srgbClr val="1E1B4A"/>
                </a:solidFill>
                <a:latin typeface="Montserrat ExtraBold"/>
              </a:rPr>
              <a:t>Соцсети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63824"/>
            <a:ext cx="19643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i="0">
                <a:solidFill>
                  <a:srgbClr val="9A9AB2"/>
                </a:solidFill>
                <a:latin typeface="Montserrat Medium"/>
              </a:rPr>
              <a:t>TikTok, Instagram, Pinterest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51560" y="3675887"/>
            <a:ext cx="1918639" cy="0"/>
          </a:xfrm>
          <a:prstGeom prst="bentConnector3">
            <a:avLst/>
          </a:prstGeom>
          <a:ln w="15240">
            <a:solidFill>
              <a:srgbClr val="E6E6F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51560" y="3858768"/>
            <a:ext cx="19643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i="0" spc="160">
                <a:solidFill>
                  <a:srgbClr val="0E9A6F"/>
                </a:solidFill>
                <a:latin typeface="Montserrat SemiBold"/>
              </a:rPr>
              <a:t>ЧТО ДАЮТ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114800"/>
            <a:ext cx="19643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i="0">
                <a:solidFill>
                  <a:srgbClr val="1E1B4A"/>
                </a:solidFill>
                <a:latin typeface="Montserrat Medium"/>
              </a:rPr>
              <a:t>Дают идеи и вдохновение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864608"/>
            <a:ext cx="19643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i="0" spc="140">
                <a:solidFill>
                  <a:srgbClr val="DB4E8F"/>
                </a:solidFill>
                <a:latin typeface="Montserrat SemiBold"/>
              </a:rPr>
              <a:t>ЧЕГО НЕ ХВАТАЕТ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120640"/>
            <a:ext cx="19643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i="0">
                <a:solidFill>
                  <a:srgbClr val="1E1B4A"/>
                </a:solidFill>
                <a:latin typeface="Montserrat Medium"/>
              </a:rPr>
              <a:t>Нет плана, цен и согласования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00551" y="2377440"/>
            <a:ext cx="2467279" cy="3383280"/>
          </a:xfrm>
          <a:prstGeom prst="roundRect">
            <a:avLst>
              <a:gd name="adj" fmla="val 6670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00551" y="2377440"/>
            <a:ext cx="2467279" cy="128016"/>
          </a:xfrm>
          <a:prstGeom prst="roundRect">
            <a:avLst>
              <a:gd name="adj" fmla="val 50000"/>
            </a:avLst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74871" y="2743200"/>
            <a:ext cx="19643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50" i="0">
                <a:solidFill>
                  <a:srgbClr val="1E1B4A"/>
                </a:solidFill>
                <a:latin typeface="Montserrat ExtraBold"/>
              </a:rPr>
              <a:t>Карты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4871" y="3163824"/>
            <a:ext cx="19643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i="0">
                <a:solidFill>
                  <a:srgbClr val="9A9AB2"/>
                </a:solidFill>
                <a:latin typeface="Montserrat Medium"/>
              </a:rPr>
              <a:t>2ГИС, Яндекс.Карты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74871" y="3675887"/>
            <a:ext cx="1918640" cy="0"/>
          </a:xfrm>
          <a:prstGeom prst="bentConnector3">
            <a:avLst/>
          </a:prstGeom>
          <a:ln w="15240">
            <a:solidFill>
              <a:srgbClr val="E6E6F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774871" y="3858768"/>
            <a:ext cx="19643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i="0" spc="160">
                <a:solidFill>
                  <a:srgbClr val="0E9A6F"/>
                </a:solidFill>
                <a:latin typeface="Montserrat SemiBold"/>
              </a:rPr>
              <a:t>ЧТО ДАЮТ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4871" y="4114800"/>
            <a:ext cx="19643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i="0">
                <a:solidFill>
                  <a:srgbClr val="1E1B4A"/>
                </a:solidFill>
                <a:latin typeface="Montserrat Medium"/>
              </a:rPr>
              <a:t>Находят место и маршрут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4871" y="4864608"/>
            <a:ext cx="19643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i="0" spc="140">
                <a:solidFill>
                  <a:srgbClr val="DB4E8F"/>
                </a:solidFill>
                <a:latin typeface="Montserrat SemiBold"/>
              </a:rPr>
              <a:t>ЧЕГО НЕ ХВАТАЕТ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4871" y="5120640"/>
            <a:ext cx="19643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i="0">
                <a:solidFill>
                  <a:srgbClr val="1E1B4A"/>
                </a:solidFill>
                <a:latin typeface="Montserrat Medium"/>
              </a:rPr>
              <a:t>Нужно уже знать, что ищешь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3863" y="2377440"/>
            <a:ext cx="2467279" cy="3383280"/>
          </a:xfrm>
          <a:prstGeom prst="roundRect">
            <a:avLst>
              <a:gd name="adj" fmla="val 6670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23863" y="2377440"/>
            <a:ext cx="2467279" cy="128016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8183" y="2743200"/>
            <a:ext cx="19643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50" i="0">
                <a:solidFill>
                  <a:srgbClr val="1E1B4A"/>
                </a:solidFill>
                <a:latin typeface="Montserrat ExtraBold"/>
              </a:rPr>
              <a:t>Афиши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8183" y="3163824"/>
            <a:ext cx="19643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i="0">
                <a:solidFill>
                  <a:srgbClr val="9A9AB2"/>
                </a:solidFill>
                <a:latin typeface="Montserrat Medium"/>
              </a:rPr>
              <a:t>Афиша, Tripadvisor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98183" y="3675887"/>
            <a:ext cx="1918640" cy="0"/>
          </a:xfrm>
          <a:prstGeom prst="bentConnector3">
            <a:avLst/>
          </a:prstGeom>
          <a:ln w="15240">
            <a:solidFill>
              <a:srgbClr val="E6E6F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98183" y="3858768"/>
            <a:ext cx="19643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i="0" spc="160">
                <a:solidFill>
                  <a:srgbClr val="0E9A6F"/>
                </a:solidFill>
                <a:latin typeface="Montserrat SemiBold"/>
              </a:rPr>
              <a:t>ЧТО ДАЮТ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8183" y="4114800"/>
            <a:ext cx="19643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i="0">
                <a:solidFill>
                  <a:srgbClr val="1E1B4A"/>
                </a:solidFill>
                <a:latin typeface="Montserrat Medium"/>
              </a:rPr>
              <a:t>События и билеты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8183" y="4864608"/>
            <a:ext cx="19643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i="0" spc="140">
                <a:solidFill>
                  <a:srgbClr val="DB4E8F"/>
                </a:solidFill>
                <a:latin typeface="Montserrat SemiBold"/>
              </a:rPr>
              <a:t>ЧЕГО НЕ ХВАТАЕТ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8183" y="5120640"/>
            <a:ext cx="19643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i="0">
                <a:solidFill>
                  <a:srgbClr val="1E1B4A"/>
                </a:solidFill>
                <a:latin typeface="Montserrat Medium"/>
              </a:rPr>
              <a:t>Дорогой и редкий сегмент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47175" y="2377440"/>
            <a:ext cx="2467279" cy="3383280"/>
          </a:xfrm>
          <a:prstGeom prst="roundRect">
            <a:avLst>
              <a:gd name="adj" fmla="val 6670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47175" y="2377440"/>
            <a:ext cx="2467279" cy="128016"/>
          </a:xfrm>
          <a:prstGeom prst="roundRect">
            <a:avLst>
              <a:gd name="adj" fmla="val 50000"/>
            </a:avLst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21495" y="2743200"/>
            <a:ext cx="19643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50" i="0">
                <a:solidFill>
                  <a:srgbClr val="1E1B4A"/>
                </a:solidFill>
                <a:latin typeface="Montserrat ExtraBold"/>
              </a:rPr>
              <a:t>Деление расходов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21495" y="3163824"/>
            <a:ext cx="19643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i="0">
                <a:solidFill>
                  <a:srgbClr val="9A9AB2"/>
                </a:solidFill>
                <a:latin typeface="Montserrat Medium"/>
              </a:rPr>
              <a:t>Splitwise, Tricount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221495" y="3675887"/>
            <a:ext cx="1918640" cy="0"/>
          </a:xfrm>
          <a:prstGeom prst="bentConnector3">
            <a:avLst/>
          </a:prstGeom>
          <a:ln w="15240">
            <a:solidFill>
              <a:srgbClr val="E6E6F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221495" y="3858768"/>
            <a:ext cx="19643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i="0" spc="160">
                <a:solidFill>
                  <a:srgbClr val="0E9A6F"/>
                </a:solidFill>
                <a:latin typeface="Montserrat SemiBold"/>
              </a:rPr>
              <a:t>ЧТО ДАЮТ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1495" y="4114800"/>
            <a:ext cx="19643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i="0">
                <a:solidFill>
                  <a:srgbClr val="1E1B4A"/>
                </a:solidFill>
                <a:latin typeface="Montserrat Medium"/>
              </a:rPr>
              <a:t>Делят счёт после траты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21495" y="4864608"/>
            <a:ext cx="19643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i="0" spc="140">
                <a:solidFill>
                  <a:srgbClr val="DB4E8F"/>
                </a:solidFill>
                <a:latin typeface="Montserrat SemiBold"/>
              </a:rPr>
              <a:t>ЧЕГО НЕ ХВАТАЕТ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21495" y="5120640"/>
            <a:ext cx="19643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i="0">
                <a:solidFill>
                  <a:srgbClr val="1E1B4A"/>
                </a:solidFill>
                <a:latin typeface="Montserrat Medium"/>
              </a:rPr>
              <a:t>Не отвечают «куда идём»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1E1B4A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5046E5"/>
                </a:solidFill>
                <a:latin typeface="Montserrat SemiBold"/>
              </a:rPr>
              <a:t>Day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5046E5"/>
                </a:solidFill>
                <a:latin typeface="Montserrat SemiBold"/>
              </a:rPr>
              <a:t>11</a:t>
            </a:r>
            <a:r>
              <a:rPr sz="1050" i="0">
                <a:solidFill>
                  <a:srgbClr val="9A9AB2"/>
                </a:solidFill>
                <a:latin typeface="Montserrat Medium"/>
              </a:rPr>
              <a:t>  / 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i="0" spc="240">
                <a:solidFill>
                  <a:srgbClr val="5046E5"/>
                </a:solidFill>
                <a:latin typeface="Montserrat SemiBold"/>
              </a:rPr>
              <a:t>РЫНОК И КОНКУРЕНТЫ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i="0">
                <a:solidFill>
                  <a:srgbClr val="1E1B4A"/>
                </a:solidFill>
                <a:latin typeface="Montserrat ExtraBold"/>
              </a:rPr>
              <a:t>Почему конкуренты не закрывают путь целиком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1E1B4A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5046E5"/>
                </a:solidFill>
                <a:latin typeface="Montserrat SemiBold"/>
              </a:rPr>
              <a:t>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5046E5"/>
                </a:solidFill>
                <a:latin typeface="Montserrat SemiBold"/>
              </a:rPr>
              <a:t>12</a:t>
            </a:r>
            <a:r>
              <a:rPr sz="1050" i="0">
                <a:solidFill>
                  <a:srgbClr val="9A9AB2"/>
                </a:solidFill>
                <a:latin typeface="Montserrat Medium"/>
              </a:rPr>
              <a:t>  /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64023" y="1920240"/>
            <a:ext cx="1231331" cy="603504"/>
          </a:xfrm>
          <a:prstGeom prst="roundRect">
            <a:avLst>
              <a:gd name="adj" fmla="val 18181"/>
            </a:avLst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59" y="1965960"/>
            <a:ext cx="13410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i="0">
                <a:solidFill>
                  <a:srgbClr val="FFFFFF"/>
                </a:solidFill>
                <a:latin typeface="Montserrat ExtraBold"/>
              </a:rPr>
              <a:t>SpenDay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0219" y="1965960"/>
            <a:ext cx="13410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i="0">
                <a:solidFill>
                  <a:srgbClr val="1E1B4A"/>
                </a:solidFill>
                <a:latin typeface="Montserrat SemiBold"/>
              </a:rPr>
              <a:t>Соцсети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1278" y="1965960"/>
            <a:ext cx="13410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i="0">
                <a:solidFill>
                  <a:srgbClr val="1E1B4A"/>
                </a:solidFill>
                <a:latin typeface="Montserrat SemiBold"/>
              </a:rPr>
              <a:t>Splitwise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337" y="1965960"/>
            <a:ext cx="13410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i="0">
                <a:solidFill>
                  <a:srgbClr val="1E1B4A"/>
                </a:solidFill>
                <a:latin typeface="Montserrat SemiBold"/>
              </a:rPr>
              <a:t>Карты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73396" y="1965960"/>
            <a:ext cx="13410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i="0">
                <a:solidFill>
                  <a:srgbClr val="1E1B4A"/>
                </a:solidFill>
                <a:latin typeface="Montserrat SemiBold"/>
              </a:rPr>
              <a:t>Афиша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532888"/>
            <a:ext cx="3931920" cy="566928"/>
          </a:xfrm>
          <a:prstGeom prst="rect">
            <a:avLst/>
          </a:prstGeom>
          <a:solidFill>
            <a:srgbClr val="F6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64023" y="2532888"/>
            <a:ext cx="1231331" cy="566928"/>
          </a:xfrm>
          <a:prstGeom prst="rect">
            <a:avLst/>
          </a:prstGeom>
          <a:solidFill>
            <a:srgbClr val="EE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2532888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i="0">
                <a:solidFill>
                  <a:srgbClr val="1E1B4A"/>
                </a:solidFill>
                <a:latin typeface="Montserrat Medium"/>
              </a:rPr>
              <a:t>Готовый сценарий под ситуацию</a:t>
            </a:r>
          </a:p>
        </p:txBody>
      </p:sp>
      <p:sp>
        <p:nvSpPr>
          <p:cNvPr id="16" name="Oval 15"/>
          <p:cNvSpPr/>
          <p:nvPr/>
        </p:nvSpPr>
        <p:spPr>
          <a:xfrm>
            <a:off x="5233385" y="2670048"/>
            <a:ext cx="292608" cy="292608"/>
          </a:xfrm>
          <a:prstGeom prst="ellipse">
            <a:avLst/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33385" y="2670048"/>
            <a:ext cx="292608" cy="292608"/>
          </a:xfrm>
          <a:prstGeom prst="roundRect">
            <a:avLst>
              <a:gd name="adj" fmla="val 27999"/>
            </a:avLst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5327020" y="2822204"/>
            <a:ext cx="40965" cy="40965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367985" y="2769534"/>
            <a:ext cx="70226" cy="93635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50219" y="2532888"/>
            <a:ext cx="13410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i="0">
                <a:solidFill>
                  <a:srgbClr val="C5C5D6"/>
                </a:solidFill>
                <a:latin typeface="Montserrat SemiBold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1278" y="2532888"/>
            <a:ext cx="13410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i="0">
                <a:solidFill>
                  <a:srgbClr val="C5C5D6"/>
                </a:solidFill>
                <a:latin typeface="Montserrat SemiBold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337" y="2532888"/>
            <a:ext cx="13410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i="0">
                <a:solidFill>
                  <a:srgbClr val="C5C5D6"/>
                </a:solidFill>
                <a:latin typeface="Montserrat SemiBold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3396" y="2532888"/>
            <a:ext cx="13410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i="0">
                <a:solidFill>
                  <a:srgbClr val="C5C5D6"/>
                </a:solidFill>
                <a:latin typeface="Montserrat SemiBold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64023" y="3099816"/>
            <a:ext cx="1231331" cy="566928"/>
          </a:xfrm>
          <a:prstGeom prst="rect">
            <a:avLst/>
          </a:prstGeom>
          <a:solidFill>
            <a:srgbClr val="EE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3099816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i="0">
                <a:solidFill>
                  <a:srgbClr val="1E1B4A"/>
                </a:solidFill>
                <a:latin typeface="Montserrat Medium"/>
              </a:rPr>
              <a:t>Бюджет известен заранее</a:t>
            </a:r>
          </a:p>
        </p:txBody>
      </p:sp>
      <p:sp>
        <p:nvSpPr>
          <p:cNvPr id="26" name="Oval 25"/>
          <p:cNvSpPr/>
          <p:nvPr/>
        </p:nvSpPr>
        <p:spPr>
          <a:xfrm>
            <a:off x="5233385" y="3236976"/>
            <a:ext cx="292608" cy="292608"/>
          </a:xfrm>
          <a:prstGeom prst="ellipse">
            <a:avLst/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233385" y="3236976"/>
            <a:ext cx="292608" cy="292608"/>
          </a:xfrm>
          <a:prstGeom prst="roundRect">
            <a:avLst>
              <a:gd name="adj" fmla="val 27999"/>
            </a:avLst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5327020" y="3389132"/>
            <a:ext cx="40965" cy="40965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367985" y="3336462"/>
            <a:ext cx="70226" cy="93635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050219" y="3099816"/>
            <a:ext cx="13410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i="0">
                <a:solidFill>
                  <a:srgbClr val="C5C5D6"/>
                </a:solidFill>
                <a:latin typeface="Montserrat SemiBold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91278" y="3099816"/>
            <a:ext cx="13410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i="0">
                <a:solidFill>
                  <a:srgbClr val="C5C5D6"/>
                </a:solidFill>
                <a:latin typeface="Montserrat SemiBold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337" y="3099816"/>
            <a:ext cx="13410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i="0">
                <a:solidFill>
                  <a:srgbClr val="C5C5D6"/>
                </a:solidFill>
                <a:latin typeface="Montserrat SemiBold"/>
              </a:rPr>
              <a:t>—</a:t>
            </a:r>
          </a:p>
        </p:txBody>
      </p:sp>
      <p:sp>
        <p:nvSpPr>
          <p:cNvPr id="33" name="Oval 32"/>
          <p:cNvSpPr/>
          <p:nvPr/>
        </p:nvSpPr>
        <p:spPr>
          <a:xfrm>
            <a:off x="10597621" y="3236976"/>
            <a:ext cx="292608" cy="292608"/>
          </a:xfrm>
          <a:prstGeom prst="ellipse">
            <a:avLst/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597621" y="3236976"/>
            <a:ext cx="292608" cy="292608"/>
          </a:xfrm>
          <a:prstGeom prst="roundRect">
            <a:avLst>
              <a:gd name="adj" fmla="val 27999"/>
            </a:avLst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10691256" y="3389132"/>
            <a:ext cx="40965" cy="40965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0732221" y="3336462"/>
            <a:ext cx="70226" cy="93635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777240" y="3666744"/>
            <a:ext cx="3931920" cy="566928"/>
          </a:xfrm>
          <a:prstGeom prst="rect">
            <a:avLst/>
          </a:prstGeom>
          <a:solidFill>
            <a:srgbClr val="F6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64023" y="3666744"/>
            <a:ext cx="1231331" cy="566928"/>
          </a:xfrm>
          <a:prstGeom prst="rect">
            <a:avLst/>
          </a:prstGeom>
          <a:solidFill>
            <a:srgbClr val="EE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" y="3666744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i="0">
                <a:solidFill>
                  <a:srgbClr val="1E1B4A"/>
                </a:solidFill>
                <a:latin typeface="Montserrat Medium"/>
              </a:rPr>
              <a:t>Групповое согласование</a:t>
            </a:r>
          </a:p>
        </p:txBody>
      </p:sp>
      <p:sp>
        <p:nvSpPr>
          <p:cNvPr id="40" name="Oval 39"/>
          <p:cNvSpPr/>
          <p:nvPr/>
        </p:nvSpPr>
        <p:spPr>
          <a:xfrm>
            <a:off x="5233385" y="3803903"/>
            <a:ext cx="292608" cy="292608"/>
          </a:xfrm>
          <a:prstGeom prst="ellipse">
            <a:avLst/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233385" y="3803903"/>
            <a:ext cx="292608" cy="292608"/>
          </a:xfrm>
          <a:prstGeom prst="roundRect">
            <a:avLst>
              <a:gd name="adj" fmla="val 27999"/>
            </a:avLst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5327020" y="3956060"/>
            <a:ext cx="40965" cy="40965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367985" y="3903390"/>
            <a:ext cx="70226" cy="93635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050219" y="3666744"/>
            <a:ext cx="13410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i="0">
                <a:solidFill>
                  <a:srgbClr val="C5C5D6"/>
                </a:solidFill>
                <a:latin typeface="Montserrat SemiBold"/>
              </a:rPr>
              <a:t>—</a:t>
            </a:r>
          </a:p>
        </p:txBody>
      </p:sp>
      <p:sp>
        <p:nvSpPr>
          <p:cNvPr id="45" name="Oval 44"/>
          <p:cNvSpPr/>
          <p:nvPr/>
        </p:nvSpPr>
        <p:spPr>
          <a:xfrm>
            <a:off x="7915503" y="3803903"/>
            <a:ext cx="292608" cy="292608"/>
          </a:xfrm>
          <a:prstGeom prst="ellipse">
            <a:avLst/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915503" y="3803903"/>
            <a:ext cx="292608" cy="292608"/>
          </a:xfrm>
          <a:prstGeom prst="roundRect">
            <a:avLst>
              <a:gd name="adj" fmla="val 27999"/>
            </a:avLst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8009138" y="3956060"/>
            <a:ext cx="40965" cy="40965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050103" y="3903390"/>
            <a:ext cx="70226" cy="93635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732337" y="3666744"/>
            <a:ext cx="13410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i="0">
                <a:solidFill>
                  <a:srgbClr val="C5C5D6"/>
                </a:solidFill>
                <a:latin typeface="Montserrat SemiBold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73396" y="3666744"/>
            <a:ext cx="13410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i="0">
                <a:solidFill>
                  <a:srgbClr val="C5C5D6"/>
                </a:solidFill>
                <a:latin typeface="Montserrat SemiBold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64023" y="4233672"/>
            <a:ext cx="1231331" cy="566928"/>
          </a:xfrm>
          <a:prstGeom prst="rect">
            <a:avLst/>
          </a:prstGeom>
          <a:solidFill>
            <a:srgbClr val="EE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1832" y="4233672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i="0">
                <a:solidFill>
                  <a:srgbClr val="1E1B4A"/>
                </a:solidFill>
                <a:latin typeface="Montserrat Medium"/>
              </a:rPr>
              <a:t>Базовые функции без регистрации</a:t>
            </a:r>
          </a:p>
        </p:txBody>
      </p:sp>
      <p:sp>
        <p:nvSpPr>
          <p:cNvPr id="53" name="Oval 52"/>
          <p:cNvSpPr/>
          <p:nvPr/>
        </p:nvSpPr>
        <p:spPr>
          <a:xfrm>
            <a:off x="5233385" y="4370831"/>
            <a:ext cx="292608" cy="292608"/>
          </a:xfrm>
          <a:prstGeom prst="ellipse">
            <a:avLst/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233385" y="4370831"/>
            <a:ext cx="292608" cy="292608"/>
          </a:xfrm>
          <a:prstGeom prst="roundRect">
            <a:avLst>
              <a:gd name="adj" fmla="val 27999"/>
            </a:avLst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5327020" y="4522988"/>
            <a:ext cx="40965" cy="40965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67985" y="4470318"/>
            <a:ext cx="70226" cy="93635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6574444" y="4370831"/>
            <a:ext cx="292608" cy="292608"/>
          </a:xfrm>
          <a:prstGeom prst="ellipse">
            <a:avLst/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574444" y="4370831"/>
            <a:ext cx="292608" cy="292608"/>
          </a:xfrm>
          <a:prstGeom prst="roundRect">
            <a:avLst>
              <a:gd name="adj" fmla="val 27999"/>
            </a:avLst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6668079" y="4522988"/>
            <a:ext cx="40965" cy="40965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709044" y="4470318"/>
            <a:ext cx="70226" cy="93635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391278" y="4233672"/>
            <a:ext cx="13410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i="0">
                <a:solidFill>
                  <a:srgbClr val="C5C5D6"/>
                </a:solidFill>
                <a:latin typeface="Montserrat SemiBold"/>
              </a:rPr>
              <a:t>—</a:t>
            </a:r>
          </a:p>
        </p:txBody>
      </p:sp>
      <p:sp>
        <p:nvSpPr>
          <p:cNvPr id="62" name="Oval 61"/>
          <p:cNvSpPr/>
          <p:nvPr/>
        </p:nvSpPr>
        <p:spPr>
          <a:xfrm>
            <a:off x="9256562" y="4370831"/>
            <a:ext cx="292608" cy="292608"/>
          </a:xfrm>
          <a:prstGeom prst="ellipse">
            <a:avLst/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256562" y="4370831"/>
            <a:ext cx="292608" cy="292608"/>
          </a:xfrm>
          <a:prstGeom prst="roundRect">
            <a:avLst>
              <a:gd name="adj" fmla="val 27999"/>
            </a:avLst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9350197" y="4522988"/>
            <a:ext cx="40965" cy="40965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9391162" y="4470318"/>
            <a:ext cx="70226" cy="93635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0073396" y="4233672"/>
            <a:ext cx="13410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i="0">
                <a:solidFill>
                  <a:srgbClr val="C5C5D6"/>
                </a:solidFill>
                <a:latin typeface="Montserrat SemiBold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240" y="4800600"/>
            <a:ext cx="3931920" cy="566928"/>
          </a:xfrm>
          <a:prstGeom prst="rect">
            <a:avLst/>
          </a:prstGeom>
          <a:solidFill>
            <a:srgbClr val="F6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764023" y="4800600"/>
            <a:ext cx="1231331" cy="566928"/>
          </a:xfrm>
          <a:prstGeom prst="rect">
            <a:avLst/>
          </a:prstGeom>
          <a:solidFill>
            <a:srgbClr val="EE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1832" y="480060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i="0">
                <a:solidFill>
                  <a:srgbClr val="1E1B4A"/>
                </a:solidFill>
                <a:latin typeface="Montserrat Medium"/>
              </a:rPr>
              <a:t>Повседневный досуг</a:t>
            </a:r>
          </a:p>
        </p:txBody>
      </p:sp>
      <p:sp>
        <p:nvSpPr>
          <p:cNvPr id="70" name="Oval 69"/>
          <p:cNvSpPr/>
          <p:nvPr/>
        </p:nvSpPr>
        <p:spPr>
          <a:xfrm>
            <a:off x="5233385" y="4937759"/>
            <a:ext cx="292608" cy="292608"/>
          </a:xfrm>
          <a:prstGeom prst="ellipse">
            <a:avLst/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233385" y="4937759"/>
            <a:ext cx="292608" cy="292608"/>
          </a:xfrm>
          <a:prstGeom prst="roundRect">
            <a:avLst>
              <a:gd name="adj" fmla="val 27999"/>
            </a:avLst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>
            <a:off x="5327020" y="5089916"/>
            <a:ext cx="40965" cy="40965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367985" y="5037246"/>
            <a:ext cx="70226" cy="93635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6574444" y="4937759"/>
            <a:ext cx="292608" cy="292608"/>
          </a:xfrm>
          <a:prstGeom prst="ellipse">
            <a:avLst/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6574444" y="4937759"/>
            <a:ext cx="292608" cy="292608"/>
          </a:xfrm>
          <a:prstGeom prst="roundRect">
            <a:avLst>
              <a:gd name="adj" fmla="val 27999"/>
            </a:avLst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6668079" y="5089916"/>
            <a:ext cx="40965" cy="40965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6709044" y="5037246"/>
            <a:ext cx="70226" cy="93635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7391278" y="4800600"/>
            <a:ext cx="13410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i="0">
                <a:solidFill>
                  <a:srgbClr val="C5C5D6"/>
                </a:solidFill>
                <a:latin typeface="Montserrat SemiBold"/>
              </a:rPr>
              <a:t>—</a:t>
            </a:r>
          </a:p>
        </p:txBody>
      </p:sp>
      <p:sp>
        <p:nvSpPr>
          <p:cNvPr id="79" name="Oval 78"/>
          <p:cNvSpPr/>
          <p:nvPr/>
        </p:nvSpPr>
        <p:spPr>
          <a:xfrm>
            <a:off x="9256562" y="4937759"/>
            <a:ext cx="292608" cy="292608"/>
          </a:xfrm>
          <a:prstGeom prst="ellipse">
            <a:avLst/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9256562" y="4937759"/>
            <a:ext cx="292608" cy="292608"/>
          </a:xfrm>
          <a:prstGeom prst="roundRect">
            <a:avLst>
              <a:gd name="adj" fmla="val 27999"/>
            </a:avLst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9350197" y="5089916"/>
            <a:ext cx="40965" cy="40965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9391162" y="5037246"/>
            <a:ext cx="70226" cy="93635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10073396" y="4800600"/>
            <a:ext cx="13410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i="0">
                <a:solidFill>
                  <a:srgbClr val="C5C5D6"/>
                </a:solidFill>
                <a:latin typeface="Montserrat SemiBold"/>
              </a:rPr>
              <a:t>—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77240" y="5532119"/>
            <a:ext cx="10637215" cy="868680"/>
          </a:xfrm>
          <a:prstGeom prst="roundRect">
            <a:avLst>
              <a:gd name="adj" fmla="val 18947"/>
            </a:avLst>
          </a:prstGeom>
          <a:solidFill>
            <a:srgbClr val="1E1B4A"/>
          </a:solidFill>
          <a:ln>
            <a:noFill/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88136" y="5641847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i="0">
                <a:solidFill>
                  <a:srgbClr val="8B83FF"/>
                </a:solidFill>
                <a:latin typeface="Montserrat SemiBold"/>
              </a:rPr>
              <a:t>Один путь
в SpenDay: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20440" y="5532119"/>
            <a:ext cx="152393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i="0">
                <a:solidFill>
                  <a:srgbClr val="FFFFFF"/>
                </a:solidFill>
                <a:latin typeface="Montserrat SemiBold"/>
              </a:rPr>
              <a:t>Ситуация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916363" y="5532119"/>
            <a:ext cx="25603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i="0">
                <a:solidFill>
                  <a:srgbClr val="8B83FF"/>
                </a:solidFill>
                <a:latin typeface="Montserrat SemiBold"/>
              </a:rPr>
              <a:t>→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44379" y="5532119"/>
            <a:ext cx="152393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i="0">
                <a:solidFill>
                  <a:srgbClr val="FFFFFF"/>
                </a:solidFill>
                <a:latin typeface="Montserrat SemiBold"/>
              </a:rPr>
              <a:t>Сценарий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40302" y="5532119"/>
            <a:ext cx="25603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i="0">
                <a:solidFill>
                  <a:srgbClr val="8B83FF"/>
                </a:solidFill>
                <a:latin typeface="Montserrat SemiBold"/>
              </a:rPr>
              <a:t>→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68318" y="5532119"/>
            <a:ext cx="152393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i="0">
                <a:solidFill>
                  <a:srgbClr val="FFFFFF"/>
                </a:solidFill>
                <a:latin typeface="Montserrat SemiBold"/>
              </a:rPr>
              <a:t>Бюджет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964241" y="5532119"/>
            <a:ext cx="25603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i="0">
                <a:solidFill>
                  <a:srgbClr val="8B83FF"/>
                </a:solidFill>
                <a:latin typeface="Montserrat SemiBold"/>
              </a:rPr>
              <a:t>→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092257" y="5532119"/>
            <a:ext cx="152393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i="0">
                <a:solidFill>
                  <a:srgbClr val="FFFFFF"/>
                </a:solidFill>
                <a:latin typeface="Montserrat SemiBold"/>
              </a:rPr>
              <a:t>Согласование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488180" y="5532119"/>
            <a:ext cx="25603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i="0">
                <a:solidFill>
                  <a:srgbClr val="8B83FF"/>
                </a:solidFill>
                <a:latin typeface="Montserrat SemiBold"/>
              </a:rPr>
              <a:t>→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616196" y="5532119"/>
            <a:ext cx="152393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i="0">
                <a:solidFill>
                  <a:srgbClr val="FFFFFF"/>
                </a:solidFill>
                <a:latin typeface="Montserrat SemiBold"/>
              </a:rPr>
              <a:t>Расходы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1E1B4A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5046E5"/>
                </a:solidFill>
                <a:latin typeface="Montserrat SemiBold"/>
              </a:rPr>
              <a:t>Day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5046E5"/>
                </a:solidFill>
                <a:latin typeface="Montserrat SemiBold"/>
              </a:rPr>
              <a:t>12</a:t>
            </a:r>
            <a:r>
              <a:rPr sz="1050" i="0">
                <a:solidFill>
                  <a:srgbClr val="9A9AB2"/>
                </a:solidFill>
                <a:latin typeface="Montserrat Medium"/>
              </a:rPr>
              <a:t>  / 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i="0" spc="240">
                <a:solidFill>
                  <a:srgbClr val="5046E5"/>
                </a:solidFill>
                <a:latin typeface="Montserrat SemiBold"/>
              </a:rPr>
              <a:t>УНИКАЛЬНОЕ ПРЕДЛОЖЕНИЕ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i="0">
                <a:solidFill>
                  <a:srgbClr val="1E1B4A"/>
                </a:solidFill>
                <a:latin typeface="Montserrat ExtraBold"/>
              </a:rPr>
              <a:t>УТП SpenDay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1E1B4A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5046E5"/>
                </a:solidFill>
                <a:latin typeface="Montserrat SemiBold"/>
              </a:rPr>
              <a:t>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5046E5"/>
                </a:solidFill>
                <a:latin typeface="Montserrat SemiBold"/>
              </a:rPr>
              <a:t>13</a:t>
            </a:r>
            <a:r>
              <a:rPr sz="1050" i="0">
                <a:solidFill>
                  <a:srgbClr val="9A9AB2"/>
                </a:solidFill>
                <a:latin typeface="Montserrat Medium"/>
              </a:rPr>
              <a:t>  /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10637215" cy="1691640"/>
          </a:xfrm>
          <a:prstGeom prst="roundRect">
            <a:avLst>
              <a:gd name="adj" fmla="val 11891"/>
            </a:avLst>
          </a:prstGeom>
          <a:solidFill>
            <a:srgbClr val="1E1B4A"/>
          </a:solidFill>
          <a:ln>
            <a:noFill/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121408"/>
            <a:ext cx="96313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i="0" spc="280">
                <a:solidFill>
                  <a:srgbClr val="8B83FF"/>
                </a:solidFill>
                <a:latin typeface="Montserrat SemiBold"/>
              </a:rPr>
              <a:t>ГЛАВНАЯ МЫСЛЬ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32304"/>
            <a:ext cx="97228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300" i="0">
                <a:solidFill>
                  <a:srgbClr val="FFFFFF"/>
                </a:solidFill>
                <a:latin typeface="Montserrat ExtraBold"/>
              </a:rPr>
              <a:t>SpenDay продаёт не места, а </a:t>
            </a:r>
            <a:r>
              <a:rPr sz="2300" i="0">
                <a:solidFill>
                  <a:srgbClr val="8B83FF"/>
                </a:solidFill>
                <a:latin typeface="Montserrat ExtraBold"/>
              </a:rPr>
              <a:t>быстрое решение</a:t>
            </a:r>
            <a:r>
              <a:rPr sz="1900" i="0">
                <a:solidFill>
                  <a:srgbClr val="D8D6F0"/>
                </a:solidFill>
                <a:latin typeface="Montserrat Medium"/>
              </a:rPr>
              <a:t>: готовый сценарий под ситуацию с понятным бюджетом — выбрать, согласовать и разделить расходы в одном приложении.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977639"/>
            <a:ext cx="2467279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1560" y="4270248"/>
            <a:ext cx="512064" cy="512064"/>
          </a:xfrm>
          <a:prstGeom prst="roundRect">
            <a:avLst>
              <a:gd name="adj" fmla="val 27999"/>
            </a:avLst>
          </a:prstGeom>
          <a:solidFill>
            <a:srgbClr val="DB4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41023" y="4459711"/>
            <a:ext cx="133136" cy="1331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928616"/>
            <a:ext cx="19643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i="0">
                <a:solidFill>
                  <a:srgbClr val="1E1B4A"/>
                </a:solidFill>
                <a:latin typeface="Montserrat ExtraBold"/>
              </a:rPr>
              <a:t>Сценарий под ситуацию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440679"/>
            <a:ext cx="19643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i="0">
                <a:solidFill>
                  <a:srgbClr val="6A6A86"/>
                </a:solidFill>
                <a:latin typeface="Montserrat Medium"/>
              </a:rPr>
              <a:t>готовый план вечера, а не список мест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00551" y="3977639"/>
            <a:ext cx="2467279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74871" y="4270248"/>
            <a:ext cx="512064" cy="512064"/>
          </a:xfrm>
          <a:prstGeom prst="roundRect">
            <a:avLst>
              <a:gd name="adj" fmla="val 27999"/>
            </a:avLst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64335" y="4459711"/>
            <a:ext cx="133136" cy="1331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74871" y="4928616"/>
            <a:ext cx="19643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i="0">
                <a:solidFill>
                  <a:srgbClr val="1E1B4A"/>
                </a:solidFill>
                <a:latin typeface="Montserrat ExtraBold"/>
              </a:rPr>
              <a:t>Понятный бюджет заранее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4871" y="5440679"/>
            <a:ext cx="19643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i="0">
                <a:solidFill>
                  <a:srgbClr val="6A6A86"/>
                </a:solidFill>
                <a:latin typeface="Montserrat Medium"/>
              </a:rPr>
              <a:t>стоимость на человека до клика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3863" y="3977639"/>
            <a:ext cx="2467279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98183" y="4270248"/>
            <a:ext cx="512064" cy="512064"/>
          </a:xfrm>
          <a:prstGeom prst="roundRect">
            <a:avLst>
              <a:gd name="adj" fmla="val 27999"/>
            </a:avLst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87647" y="4459711"/>
            <a:ext cx="133136" cy="1331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8183" y="4928616"/>
            <a:ext cx="19643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i="0">
                <a:solidFill>
                  <a:srgbClr val="1E1B4A"/>
                </a:solidFill>
                <a:latin typeface="Montserrat ExtraBold"/>
              </a:rPr>
              <a:t>Согласование без регистрации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5440679"/>
            <a:ext cx="19643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i="0">
                <a:solidFill>
                  <a:srgbClr val="6A6A86"/>
                </a:solidFill>
                <a:latin typeface="Montserrat Medium"/>
              </a:rPr>
              <a:t>голосование по ссылке в чате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47175" y="3977639"/>
            <a:ext cx="2467279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21495" y="4270248"/>
            <a:ext cx="512064" cy="512064"/>
          </a:xfrm>
          <a:prstGeom prst="roundRect">
            <a:avLst>
              <a:gd name="adj" fmla="val 27999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10959" y="4459711"/>
            <a:ext cx="133136" cy="1331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21495" y="4928616"/>
            <a:ext cx="19643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i="0">
                <a:solidFill>
                  <a:srgbClr val="1E1B4A"/>
                </a:solidFill>
                <a:latin typeface="Montserrat ExtraBold"/>
              </a:rPr>
              <a:t>Калькулятор расходов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1495" y="5440679"/>
            <a:ext cx="19643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i="0">
                <a:solidFill>
                  <a:srgbClr val="6A6A86"/>
                </a:solidFill>
                <a:latin typeface="Montserrat Medium"/>
              </a:rPr>
              <a:t>кто кому сколько — за секунды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1E1B4A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5046E5"/>
                </a:solidFill>
                <a:latin typeface="Montserrat SemiBold"/>
              </a:rPr>
              <a:t>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5046E5"/>
                </a:solidFill>
                <a:latin typeface="Montserrat SemiBold"/>
              </a:rPr>
              <a:t>13</a:t>
            </a:r>
            <a:r>
              <a:rPr sz="1050" i="0">
                <a:solidFill>
                  <a:srgbClr val="9A9AB2"/>
                </a:solidFill>
                <a:latin typeface="Montserrat Medium"/>
              </a:rPr>
              <a:t>  / 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i="0" spc="240">
                <a:solidFill>
                  <a:srgbClr val="5046E5"/>
                </a:solidFill>
                <a:latin typeface="Montserrat SemiBold"/>
              </a:rPr>
              <a:t>МОНЕТИЗАЦИЯ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i="0">
                <a:solidFill>
                  <a:srgbClr val="1E1B4A"/>
                </a:solidFill>
                <a:latin typeface="Montserrat ExtraBold"/>
              </a:rPr>
              <a:t>Как SpenDay зарабатывает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1E1B4A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5046E5"/>
                </a:solidFill>
                <a:latin typeface="Montserrat SemiBold"/>
              </a:rPr>
              <a:t>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5046E5"/>
                </a:solidFill>
                <a:latin typeface="Montserrat SemiBold"/>
              </a:rPr>
              <a:t>14</a:t>
            </a:r>
            <a:r>
              <a:rPr sz="1050" i="0">
                <a:solidFill>
                  <a:srgbClr val="9A9AB2"/>
                </a:solidFill>
                <a:latin typeface="Montserrat Medium"/>
              </a:rPr>
              <a:t>  /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i="0">
                <a:solidFill>
                  <a:srgbClr val="5046E5"/>
                </a:solidFill>
                <a:latin typeface="Montserrat SemiBold"/>
              </a:rPr>
              <a:t>Базовый продукт бесплатный</a:t>
            </a:r>
            <a:r>
              <a:rPr sz="1400" i="0">
                <a:solidFill>
                  <a:srgbClr val="6A6A86"/>
                </a:solidFill>
                <a:latin typeface="Montserrat Medium"/>
              </a:rPr>
              <a:t> — это растит аудиторию и не мешает UX. Доход подключается поэтапно.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77440"/>
            <a:ext cx="3362858" cy="2697480"/>
          </a:xfrm>
          <a:prstGeom prst="roundRect">
            <a:avLst>
              <a:gd name="adj" fmla="val 6101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2651760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50" i="0">
                <a:solidFill>
                  <a:srgbClr val="FFFFFF"/>
                </a:solidFill>
                <a:latin typeface="Montserrat SemiBold"/>
              </a:rPr>
              <a:t>Старт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163824"/>
            <a:ext cx="281421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i="0">
                <a:solidFill>
                  <a:srgbClr val="6A6A86"/>
                </a:solidFill>
                <a:latin typeface="Montserrat SemiBold"/>
              </a:rPr>
              <a:t>0–10 000 MAU</a:t>
            </a:r>
          </a:p>
        </p:txBody>
      </p:sp>
      <p:sp>
        <p:nvSpPr>
          <p:cNvPr id="11" name="Oval 10"/>
          <p:cNvSpPr/>
          <p:nvPr/>
        </p:nvSpPr>
        <p:spPr>
          <a:xfrm>
            <a:off x="1069848" y="3666744"/>
            <a:ext cx="109728" cy="109728"/>
          </a:xfrm>
          <a:prstGeom prst="ellipse">
            <a:avLst/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9304" y="3566160"/>
            <a:ext cx="25856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i="0">
                <a:solidFill>
                  <a:srgbClr val="1E1B4A"/>
                </a:solidFill>
                <a:latin typeface="Montserrat Medium"/>
              </a:rPr>
              <a:t>Реклама РСЯ (eCPM 50–110 ₽)</a:t>
            </a:r>
          </a:p>
        </p:txBody>
      </p:sp>
      <p:sp>
        <p:nvSpPr>
          <p:cNvPr id="13" name="Oval 12"/>
          <p:cNvSpPr/>
          <p:nvPr/>
        </p:nvSpPr>
        <p:spPr>
          <a:xfrm>
            <a:off x="1069848" y="4160520"/>
            <a:ext cx="109728" cy="109728"/>
          </a:xfrm>
          <a:prstGeom prst="ellipse">
            <a:avLst/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9304" y="4059936"/>
            <a:ext cx="25856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i="0">
                <a:solidFill>
                  <a:srgbClr val="1E1B4A"/>
                </a:solidFill>
                <a:latin typeface="Montserrat Medium"/>
              </a:rPr>
              <a:t>Нативные партнёрства 5–20k ₽/мес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51560" y="4526280"/>
            <a:ext cx="2814218" cy="0"/>
          </a:xfrm>
          <a:prstGeom prst="bentConnector3">
            <a:avLst/>
          </a:prstGeom>
          <a:ln w="15240">
            <a:solidFill>
              <a:srgbClr val="E6E6F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51560" y="4599432"/>
            <a:ext cx="281421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i="0">
                <a:solidFill>
                  <a:srgbClr val="5046E5"/>
                </a:solidFill>
                <a:latin typeface="Montserrat ExtraBold"/>
              </a:rPr>
              <a:t>ARPU ~2–3 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8386" y="3520440"/>
            <a:ext cx="2377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i="0">
                <a:solidFill>
                  <a:srgbClr val="9A9AB2"/>
                </a:solidFill>
                <a:latin typeface="Montserrat Black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14418" y="2377440"/>
            <a:ext cx="3362858" cy="2697480"/>
          </a:xfrm>
          <a:prstGeom prst="roundRect">
            <a:avLst>
              <a:gd name="adj" fmla="val 6101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88738" y="2651760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DB4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50" i="0">
                <a:solidFill>
                  <a:srgbClr val="FFFFFF"/>
                </a:solidFill>
                <a:latin typeface="Montserrat SemiBold"/>
              </a:rPr>
              <a:t>Рост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7026" y="3163824"/>
            <a:ext cx="281421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i="0">
                <a:solidFill>
                  <a:srgbClr val="6A6A86"/>
                </a:solidFill>
                <a:latin typeface="Montserrat SemiBold"/>
              </a:rPr>
              <a:t>10 000–100 000 MAU</a:t>
            </a:r>
          </a:p>
        </p:txBody>
      </p:sp>
      <p:sp>
        <p:nvSpPr>
          <p:cNvPr id="21" name="Oval 20"/>
          <p:cNvSpPr/>
          <p:nvPr/>
        </p:nvSpPr>
        <p:spPr>
          <a:xfrm>
            <a:off x="4707026" y="3666744"/>
            <a:ext cx="109728" cy="109728"/>
          </a:xfrm>
          <a:prstGeom prst="ellipse">
            <a:avLst/>
          </a:prstGeom>
          <a:solidFill>
            <a:srgbClr val="DB4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26482" y="3566160"/>
            <a:ext cx="25856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i="0">
                <a:solidFill>
                  <a:srgbClr val="1E1B4A"/>
                </a:solidFill>
                <a:latin typeface="Montserrat Medium"/>
              </a:rPr>
              <a:t>+ Платный UGC: комиссия с авторов</a:t>
            </a:r>
          </a:p>
        </p:txBody>
      </p:sp>
      <p:sp>
        <p:nvSpPr>
          <p:cNvPr id="23" name="Oval 22"/>
          <p:cNvSpPr/>
          <p:nvPr/>
        </p:nvSpPr>
        <p:spPr>
          <a:xfrm>
            <a:off x="4707026" y="4160520"/>
            <a:ext cx="109728" cy="109728"/>
          </a:xfrm>
          <a:prstGeom prst="ellipse">
            <a:avLst/>
          </a:prstGeom>
          <a:solidFill>
            <a:srgbClr val="DB4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26482" y="4059936"/>
            <a:ext cx="25856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i="0">
                <a:solidFill>
                  <a:srgbClr val="1E1B4A"/>
                </a:solidFill>
                <a:latin typeface="Montserrat Medium"/>
              </a:rPr>
              <a:t>Подписка на авторов сценариев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688738" y="4526280"/>
            <a:ext cx="2814218" cy="0"/>
          </a:xfrm>
          <a:prstGeom prst="bentConnector3">
            <a:avLst/>
          </a:prstGeom>
          <a:ln w="15240">
            <a:solidFill>
              <a:srgbClr val="E6E6F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688738" y="4599432"/>
            <a:ext cx="281421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i="0">
                <a:solidFill>
                  <a:srgbClr val="DB4E8F"/>
                </a:solidFill>
                <a:latin typeface="Montserrat ExtraBold"/>
              </a:rPr>
              <a:t>ARPU ~5 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5564" y="3520440"/>
            <a:ext cx="2377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i="0">
                <a:solidFill>
                  <a:srgbClr val="9A9AB2"/>
                </a:solidFill>
                <a:latin typeface="Montserrat Black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51596" y="2377440"/>
            <a:ext cx="3362858" cy="2697480"/>
          </a:xfrm>
          <a:prstGeom prst="roundRect">
            <a:avLst>
              <a:gd name="adj" fmla="val 6101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25916" y="2651760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50" i="0">
                <a:solidFill>
                  <a:srgbClr val="FFFFFF"/>
                </a:solidFill>
                <a:latin typeface="Montserrat SemiBold"/>
              </a:rPr>
              <a:t>Масштаб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4204" y="3163824"/>
            <a:ext cx="281421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i="0">
                <a:solidFill>
                  <a:srgbClr val="6A6A86"/>
                </a:solidFill>
                <a:latin typeface="Montserrat SemiBold"/>
              </a:rPr>
              <a:t>100 000+ MAU</a:t>
            </a:r>
          </a:p>
        </p:txBody>
      </p:sp>
      <p:sp>
        <p:nvSpPr>
          <p:cNvPr id="31" name="Oval 30"/>
          <p:cNvSpPr/>
          <p:nvPr/>
        </p:nvSpPr>
        <p:spPr>
          <a:xfrm>
            <a:off x="8344204" y="3666744"/>
            <a:ext cx="109728" cy="109728"/>
          </a:xfrm>
          <a:prstGeom prst="ellipse">
            <a:avLst/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63660" y="3566160"/>
            <a:ext cx="25856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i="0">
                <a:solidFill>
                  <a:srgbClr val="1E1B4A"/>
                </a:solidFill>
                <a:latin typeface="Montserrat Medium"/>
              </a:rPr>
              <a:t>+ Агрегация и комиссия с покупок</a:t>
            </a:r>
          </a:p>
        </p:txBody>
      </p:sp>
      <p:sp>
        <p:nvSpPr>
          <p:cNvPr id="33" name="Oval 32"/>
          <p:cNvSpPr/>
          <p:nvPr/>
        </p:nvSpPr>
        <p:spPr>
          <a:xfrm>
            <a:off x="8344204" y="4160520"/>
            <a:ext cx="109728" cy="109728"/>
          </a:xfrm>
          <a:prstGeom prst="ellipse">
            <a:avLst/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63660" y="4059936"/>
            <a:ext cx="25856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i="0">
                <a:solidFill>
                  <a:srgbClr val="1E1B4A"/>
                </a:solidFill>
                <a:latin typeface="Montserrat Medium"/>
              </a:rPr>
              <a:t>Bundle: билеты, брони, доставка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325916" y="4526280"/>
            <a:ext cx="2814219" cy="0"/>
          </a:xfrm>
          <a:prstGeom prst="bentConnector3">
            <a:avLst/>
          </a:prstGeom>
          <a:ln w="15240">
            <a:solidFill>
              <a:srgbClr val="E6E6F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325916" y="4599432"/>
            <a:ext cx="281421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i="0">
                <a:solidFill>
                  <a:srgbClr val="14B886"/>
                </a:solidFill>
                <a:latin typeface="Montserrat ExtraBold"/>
              </a:rPr>
              <a:t>ARPU ~8 ₽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257800"/>
            <a:ext cx="10637215" cy="841248"/>
          </a:xfrm>
          <a:prstGeom prst="roundRect">
            <a:avLst>
              <a:gd name="adj" fmla="val 19565"/>
            </a:avLst>
          </a:prstGeom>
          <a:solidFill>
            <a:srgbClr val="1E1B4A"/>
          </a:solidFill>
          <a:ln>
            <a:noFill/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5257800"/>
            <a:ext cx="59436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C9C7E6"/>
                </a:solidFill>
                <a:latin typeface="Montserrat Medium"/>
              </a:rPr>
              <a:t>Точка безубыточности:  </a:t>
            </a:r>
            <a:r>
              <a:rPr sz="1800" i="0">
                <a:solidFill>
                  <a:srgbClr val="FFFFFF"/>
                </a:solidFill>
                <a:latin typeface="Montserrat ExtraBold"/>
              </a:rPr>
              <a:t>10 000 MAU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79" y="5257800"/>
            <a:ext cx="423641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i="0">
                <a:solidFill>
                  <a:srgbClr val="B9B7DE"/>
                </a:solidFill>
                <a:latin typeface="Montserrat Medium"/>
              </a:rPr>
              <a:t>20 000 ₽ серверы/мес  ÷  2 ₽ ARPU.  Дальше — выручка кратно обгоняет расходы.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1E1B4A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5046E5"/>
                </a:solidFill>
                <a:latin typeface="Montserrat SemiBold"/>
              </a:rPr>
              <a:t>Day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5046E5"/>
                </a:solidFill>
                <a:latin typeface="Montserrat SemiBold"/>
              </a:rPr>
              <a:t>14</a:t>
            </a:r>
            <a:r>
              <a:rPr sz="1050" i="0">
                <a:solidFill>
                  <a:srgbClr val="9A9AB2"/>
                </a:solidFill>
                <a:latin typeface="Montserrat Medium"/>
              </a:rPr>
              <a:t>  / 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i="0" spc="240">
                <a:solidFill>
                  <a:srgbClr val="5046E5"/>
                </a:solidFill>
                <a:latin typeface="Montserrat SemiBold"/>
              </a:rPr>
              <a:t>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i="0">
                <a:solidFill>
                  <a:srgbClr val="1E1B4A"/>
                </a:solidFill>
                <a:latin typeface="Montserrat ExtraBold"/>
              </a:rPr>
              <a:t>Что входит в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1E1B4A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5046E5"/>
                </a:solidFill>
                <a:latin typeface="Montserrat SemiBold"/>
              </a:rPr>
              <a:t>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5046E5"/>
                </a:solidFill>
                <a:latin typeface="Montserrat SemiBold"/>
              </a:rPr>
              <a:t>15</a:t>
            </a:r>
            <a:r>
              <a:rPr sz="1050" i="0">
                <a:solidFill>
                  <a:srgbClr val="9A9AB2"/>
                </a:solidFill>
                <a:latin typeface="Montserrat Medium"/>
              </a:rPr>
              <a:t>  /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i="0">
                <a:solidFill>
                  <a:srgbClr val="6A6A86"/>
                </a:solidFill>
                <a:latin typeface="Montserrat Medium"/>
              </a:rPr>
              <a:t>Минимум, чтобы проверить главную гипотезу — и собрать его можно быстро.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3362858" cy="128016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2606039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97863" y="2843783"/>
            <a:ext cx="64009" cy="64008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61872" y="2761487"/>
            <a:ext cx="109728" cy="146304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73352" y="2569463"/>
            <a:ext cx="235701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i="0">
                <a:solidFill>
                  <a:srgbClr val="1E1B4A"/>
                </a:solidFill>
                <a:latin typeface="Montserrat ExtraBold"/>
              </a:rPr>
              <a:t>Лента сценариев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2" y="2990087"/>
            <a:ext cx="2357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i="0">
                <a:solidFill>
                  <a:srgbClr val="6A6A86"/>
                </a:solidFill>
                <a:latin typeface="Montserrat Medium"/>
              </a:rPr>
              <a:t>готовые варианты вечера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4418" y="2331720"/>
            <a:ext cx="3362858" cy="128016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88738" y="2606039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4835042" y="2843783"/>
            <a:ext cx="64008" cy="64008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899050" y="2761487"/>
            <a:ext cx="109728" cy="146304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310530" y="2569463"/>
            <a:ext cx="235701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i="0">
                <a:solidFill>
                  <a:srgbClr val="1E1B4A"/>
                </a:solidFill>
                <a:latin typeface="Montserrat ExtraBold"/>
              </a:rPr>
              <a:t>Фильтры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0530" y="2990087"/>
            <a:ext cx="2357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i="0">
                <a:solidFill>
                  <a:srgbClr val="6A6A86"/>
                </a:solidFill>
                <a:latin typeface="Montserrat Medium"/>
              </a:rPr>
              <a:t>ситуация · бюджет · формат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1596" y="2331720"/>
            <a:ext cx="3362858" cy="128016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25916" y="2606039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8472220" y="2843783"/>
            <a:ext cx="64008" cy="64008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536228" y="2761487"/>
            <a:ext cx="109728" cy="146304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947708" y="2569463"/>
            <a:ext cx="235701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i="0">
                <a:solidFill>
                  <a:srgbClr val="1E1B4A"/>
                </a:solidFill>
                <a:latin typeface="Montserrat ExtraBold"/>
              </a:rPr>
              <a:t>Карточка сценария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7708" y="2990087"/>
            <a:ext cx="2357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i="0">
                <a:solidFill>
                  <a:srgbClr val="6A6A86"/>
                </a:solidFill>
                <a:latin typeface="Montserrat Medium"/>
              </a:rPr>
              <a:t>шаги, бюджет, длительность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840479"/>
            <a:ext cx="3362858" cy="128016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51560" y="4114799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197863" y="4352543"/>
            <a:ext cx="64009" cy="64008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261872" y="4270247"/>
            <a:ext cx="109728" cy="146304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673352" y="4078223"/>
            <a:ext cx="235701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i="0">
                <a:solidFill>
                  <a:srgbClr val="1E1B4A"/>
                </a:solidFill>
                <a:latin typeface="Montserrat ExtraBold"/>
              </a:rPr>
              <a:t>Шаринг ссылкой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73352" y="4498847"/>
            <a:ext cx="2357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i="0">
                <a:solidFill>
                  <a:srgbClr val="6A6A86"/>
                </a:solidFill>
                <a:latin typeface="Montserrat Medium"/>
              </a:rPr>
              <a:t>отправить компании в чат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14418" y="3840479"/>
            <a:ext cx="3362858" cy="128016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88738" y="4114799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4835042" y="4352543"/>
            <a:ext cx="64008" cy="64008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899050" y="4270247"/>
            <a:ext cx="109728" cy="146304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310530" y="4078223"/>
            <a:ext cx="235701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i="0">
                <a:solidFill>
                  <a:srgbClr val="1E1B4A"/>
                </a:solidFill>
                <a:latin typeface="Montserrat ExtraBold"/>
              </a:rPr>
              <a:t>Голосование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10530" y="4498847"/>
            <a:ext cx="2357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i="0">
                <a:solidFill>
                  <a:srgbClr val="6A6A86"/>
                </a:solidFill>
                <a:latin typeface="Montserrat Medium"/>
              </a:rPr>
              <a:t>без регистрации и скачивания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51596" y="3840479"/>
            <a:ext cx="3362858" cy="128016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325916" y="4114799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8472220" y="4352543"/>
            <a:ext cx="64008" cy="64008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536228" y="4270247"/>
            <a:ext cx="109728" cy="146304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947708" y="4078223"/>
            <a:ext cx="235701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i="0">
                <a:solidFill>
                  <a:srgbClr val="1E1B4A"/>
                </a:solidFill>
                <a:latin typeface="Montserrat ExtraBold"/>
              </a:rPr>
              <a:t>Калькулятор расходов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47708" y="4498847"/>
            <a:ext cx="2357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i="0">
                <a:solidFill>
                  <a:srgbClr val="6A6A86"/>
                </a:solidFill>
                <a:latin typeface="Montserrat Medium"/>
              </a:rPr>
              <a:t>разделить счёт за секунды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" y="5212079"/>
            <a:ext cx="10637215" cy="841248"/>
          </a:xfrm>
          <a:prstGeom prst="roundRect">
            <a:avLst>
              <a:gd name="adj" fmla="val 19565"/>
            </a:avLst>
          </a:prstGeom>
          <a:solidFill>
            <a:srgbClr val="EFEEF9"/>
          </a:solidFill>
          <a:ln>
            <a:noFill/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5212079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i="0">
                <a:solidFill>
                  <a:srgbClr val="5046E5"/>
                </a:solidFill>
                <a:latin typeface="Montserrat ExtraBold"/>
              </a:rPr>
              <a:t>Цель MVP:  </a:t>
            </a:r>
            <a:r>
              <a:rPr sz="1500" i="0">
                <a:solidFill>
                  <a:srgbClr val="1E1B4A"/>
                </a:solidFill>
                <a:latin typeface="Montserrat Medium"/>
              </a:rPr>
              <a:t>проверить, что люди выбирают досуг быстрее и возвращаются за новыми сценариями.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1E1B4A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5046E5"/>
                </a:solidFill>
                <a:latin typeface="Montserrat SemiBold"/>
              </a:rPr>
              <a:t>Day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5046E5"/>
                </a:solidFill>
                <a:latin typeface="Montserrat SemiBold"/>
              </a:rPr>
              <a:t>15</a:t>
            </a:r>
            <a:r>
              <a:rPr sz="1050" i="0">
                <a:solidFill>
                  <a:srgbClr val="9A9AB2"/>
                </a:solidFill>
                <a:latin typeface="Montserrat Medium"/>
              </a:rPr>
              <a:t>  / 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i="0" spc="240">
                <a:solidFill>
                  <a:srgbClr val="5046E5"/>
                </a:solidFill>
                <a:latin typeface="Montserrat SemiBold"/>
              </a:rPr>
              <a:t>МЕТРИКИ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i="0">
                <a:solidFill>
                  <a:srgbClr val="1E1B4A"/>
                </a:solidFill>
                <a:latin typeface="Montserrat ExtraBold"/>
              </a:rPr>
              <a:t>Как измеряем успех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1E1B4A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5046E5"/>
                </a:solidFill>
                <a:latin typeface="Montserrat SemiBold"/>
              </a:rPr>
              <a:t>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5046E5"/>
                </a:solidFill>
                <a:latin typeface="Montserrat SemiBold"/>
              </a:rPr>
              <a:t>16</a:t>
            </a:r>
            <a:r>
              <a:rPr sz="1050" i="0">
                <a:solidFill>
                  <a:srgbClr val="9A9AB2"/>
                </a:solidFill>
                <a:latin typeface="Montserrat Medium"/>
              </a:rPr>
              <a:t>  /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10637215" cy="1143000"/>
          </a:xfrm>
          <a:prstGeom prst="roundRect">
            <a:avLst>
              <a:gd name="adj" fmla="val 16000"/>
            </a:avLst>
          </a:prstGeom>
          <a:solidFill>
            <a:srgbClr val="1E1B4A"/>
          </a:solidFill>
          <a:ln>
            <a:noFill/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084831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i="0" spc="260">
                <a:solidFill>
                  <a:srgbClr val="8B83FF"/>
                </a:solidFill>
                <a:latin typeface="Montserrat SemiBold"/>
              </a:rPr>
              <a:t>NORTH STAR 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7864" y="2359152"/>
            <a:ext cx="7772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i="0">
                <a:solidFill>
                  <a:srgbClr val="FFFFFF"/>
                </a:solidFill>
                <a:latin typeface="Montserrat Black"/>
              </a:rPr>
              <a:t>MAU</a:t>
            </a:r>
            <a:r>
              <a:rPr sz="2200" i="0">
                <a:solidFill>
                  <a:srgbClr val="8B83FF"/>
                </a:solidFill>
                <a:latin typeface="Montserrat Medium"/>
              </a:rPr>
              <a:t>  +  </a:t>
            </a:r>
            <a:r>
              <a:rPr sz="2600" i="0">
                <a:solidFill>
                  <a:srgbClr val="FFFFFF"/>
                </a:solidFill>
                <a:latin typeface="Montserrat Black"/>
              </a:rPr>
              <a:t>Monthly Retention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82535" y="2286000"/>
            <a:ext cx="3657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i="0">
                <a:solidFill>
                  <a:srgbClr val="C9C7E6"/>
                </a:solidFill>
                <a:latin typeface="Montserrat Medium"/>
              </a:rPr>
              <a:t>Масштаб аудитории + качество роста — самая честная пара для продукта планирования досуга.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383280"/>
            <a:ext cx="3375050" cy="1207008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3584448"/>
            <a:ext cx="91440" cy="804672"/>
          </a:xfrm>
          <a:prstGeom prst="roundRect">
            <a:avLst>
              <a:gd name="adj" fmla="val 50000"/>
            </a:avLst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3584448"/>
            <a:ext cx="291785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i="0">
                <a:solidFill>
                  <a:srgbClr val="6A6A86"/>
                </a:solidFill>
                <a:latin typeface="Montserrat SemiBold"/>
              </a:rPr>
              <a:t>Time to Save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840480"/>
            <a:ext cx="291785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i="0">
                <a:solidFill>
                  <a:srgbClr val="1E1B4A"/>
                </a:solidFill>
                <a:latin typeface="Montserrat Black"/>
              </a:rPr>
              <a:t>до 3 мин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4315968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i="0">
                <a:solidFill>
                  <a:srgbClr val="5046E5"/>
                </a:solidFill>
                <a:latin typeface="Montserrat Medium"/>
              </a:rPr>
              <a:t>vs 30–90 мин сейчас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8322" y="3383280"/>
            <a:ext cx="3375050" cy="1207008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08322" y="3584448"/>
            <a:ext cx="91440" cy="804672"/>
          </a:xfrm>
          <a:prstGeom prst="roundRect">
            <a:avLst>
              <a:gd name="adj" fmla="val 50000"/>
            </a:avLst>
          </a:prstGeom>
          <a:solidFill>
            <a:srgbClr val="DB4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19218" y="3584448"/>
            <a:ext cx="291785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i="0">
                <a:solidFill>
                  <a:srgbClr val="6A6A86"/>
                </a:solidFill>
                <a:latin typeface="Montserrat SemiBold"/>
              </a:rPr>
              <a:t>Monthly 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0930" y="3840480"/>
            <a:ext cx="291785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i="0">
                <a:solidFill>
                  <a:srgbClr val="1E1B4A"/>
                </a:solidFill>
                <a:latin typeface="Montserrat Black"/>
              </a:rPr>
              <a:t>25–35%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9218" y="4315968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i="0">
                <a:solidFill>
                  <a:srgbClr val="DB4E8F"/>
                </a:solidFill>
                <a:latin typeface="Montserrat Medium"/>
              </a:rPr>
              <a:t>ниже 15% — сигнал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9404" y="3383280"/>
            <a:ext cx="3375050" cy="1207008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39404" y="3584448"/>
            <a:ext cx="91440" cy="804672"/>
          </a:xfrm>
          <a:prstGeom prst="roundRect">
            <a:avLst>
              <a:gd name="adj" fmla="val 50000"/>
            </a:avLst>
          </a:prstGeom>
          <a:solidFill>
            <a:srgbClr val="14B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0300" y="3584448"/>
            <a:ext cx="291785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i="0">
                <a:solidFill>
                  <a:srgbClr val="6A6A86"/>
                </a:solidFill>
                <a:latin typeface="Montserrat SemiBold"/>
              </a:rPr>
              <a:t>DAU / MAU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2012" y="3840480"/>
            <a:ext cx="291785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i="0">
                <a:solidFill>
                  <a:srgbClr val="1E1B4A"/>
                </a:solidFill>
                <a:latin typeface="Montserrat Black"/>
              </a:rPr>
              <a:t>12–18%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0300" y="4315968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i="0">
                <a:solidFill>
                  <a:srgbClr val="14B886"/>
                </a:solidFill>
                <a:latin typeface="Montserrat Medium"/>
              </a:rPr>
              <a:t>норма lifestyle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791456"/>
            <a:ext cx="3375050" cy="1207008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4992624"/>
            <a:ext cx="91440" cy="804672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6" y="4992624"/>
            <a:ext cx="291785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i="0">
                <a:solidFill>
                  <a:srgbClr val="6A6A86"/>
                </a:solidFill>
                <a:latin typeface="Montserrat SemiBold"/>
              </a:rPr>
              <a:t>Сохранений / польз.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" y="5248656"/>
            <a:ext cx="291785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i="0">
                <a:solidFill>
                  <a:srgbClr val="1E1B4A"/>
                </a:solidFill>
                <a:latin typeface="Montserrat Black"/>
              </a:rPr>
              <a:t>5–15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" y="5724144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i="0">
                <a:solidFill>
                  <a:srgbClr val="F5A524"/>
                </a:solidFill>
                <a:latin typeface="Montserrat Medium"/>
              </a:rPr>
              <a:t>ценность контента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08322" y="4791456"/>
            <a:ext cx="3375050" cy="1207008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408322" y="4992624"/>
            <a:ext cx="91440" cy="804672"/>
          </a:xfrm>
          <a:prstGeom prst="roundRect">
            <a:avLst>
              <a:gd name="adj" fmla="val 50000"/>
            </a:avLst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9218" y="4992624"/>
            <a:ext cx="291785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i="0">
                <a:solidFill>
                  <a:srgbClr val="6A6A86"/>
                </a:solidFill>
                <a:latin typeface="Montserrat SemiBold"/>
              </a:rPr>
              <a:t>Участники голосования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930" y="5248656"/>
            <a:ext cx="291785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i="0">
                <a:solidFill>
                  <a:srgbClr val="1E1B4A"/>
                </a:solidFill>
                <a:latin typeface="Montserrat Black"/>
              </a:rPr>
              <a:t>4+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19218" y="5724144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i="0">
                <a:solidFill>
                  <a:srgbClr val="5046E5"/>
                </a:solidFill>
                <a:latin typeface="Montserrat Medium"/>
              </a:rPr>
              <a:t>виральность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39404" y="4791456"/>
            <a:ext cx="3375050" cy="1207008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5240">
            <a:solidFill>
              <a:srgbClr val="E6E6F1"/>
            </a:solidFill>
          </a:ln>
          <a:effectLst>
            <a:outerShdw blurRad="91440" dist="50292" dir="5400000" rotWithShape="0">
              <a:srgbClr val="1E1B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39404" y="4992624"/>
            <a:ext cx="91440" cy="804672"/>
          </a:xfrm>
          <a:prstGeom prst="roundRect">
            <a:avLst>
              <a:gd name="adj" fmla="val 50000"/>
            </a:avLst>
          </a:prstGeom>
          <a:solidFill>
            <a:srgbClr val="DB4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50300" y="4992624"/>
            <a:ext cx="291785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i="0">
                <a:solidFill>
                  <a:srgbClr val="6A6A86"/>
                </a:solidFill>
                <a:latin typeface="Montserrat SemiBold"/>
              </a:rPr>
              <a:t>CAC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2012" y="5248656"/>
            <a:ext cx="291785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i="0">
                <a:solidFill>
                  <a:srgbClr val="1E1B4A"/>
                </a:solidFill>
                <a:latin typeface="Montserrat Black"/>
              </a:rPr>
              <a:t>≤ 100 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0300" y="5724144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i="0">
                <a:solidFill>
                  <a:srgbClr val="DB4E8F"/>
                </a:solidFill>
                <a:latin typeface="Montserrat Medium"/>
              </a:rPr>
              <a:t>LTV/CAC &gt; 2x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1E1B4A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5046E5"/>
                </a:solidFill>
                <a:latin typeface="Montserrat SemiBold"/>
              </a:rPr>
              <a:t>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5046E5"/>
                </a:solidFill>
                <a:latin typeface="Montserrat SemiBold"/>
              </a:rPr>
              <a:t>16</a:t>
            </a:r>
            <a:r>
              <a:rPr sz="1050" i="0">
                <a:solidFill>
                  <a:srgbClr val="9A9AB2"/>
                </a:solidFill>
                <a:latin typeface="Montserrat Medium"/>
              </a:rPr>
              <a:t>  / 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1E1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1920240"/>
            <a:ext cx="6035040" cy="6035040"/>
          </a:xfrm>
          <a:prstGeom prst="ellipse">
            <a:avLst/>
          </a:prstGeom>
          <a:solidFill>
            <a:srgbClr val="2A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554480" y="4206240"/>
            <a:ext cx="4206240" cy="4206240"/>
          </a:xfrm>
          <a:prstGeom prst="ellipse">
            <a:avLst/>
          </a:prstGeom>
          <a:solidFill>
            <a:srgbClr val="2A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31520"/>
            <a:ext cx="365760" cy="365760"/>
          </a:xfrm>
          <a:prstGeom prst="roundRect">
            <a:avLst>
              <a:gd name="adj" fmla="val 27999"/>
            </a:avLst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875995" y="833932"/>
            <a:ext cx="168249" cy="168249"/>
          </a:xfrm>
          <a:prstGeom prst="star5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71016" y="676656"/>
            <a:ext cx="31089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80" i="0">
                <a:solidFill>
                  <a:srgbClr val="FFFFFF"/>
                </a:solidFill>
                <a:latin typeface="Montserrat ExtraBold"/>
              </a:rPr>
              <a:t>Spen</a:t>
            </a:r>
            <a:r>
              <a:rPr sz="2080" i="0">
                <a:solidFill>
                  <a:srgbClr val="8B83FF"/>
                </a:solidFill>
                <a:latin typeface="Montserrat ExtraBold"/>
              </a:rPr>
              <a:t>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600200"/>
            <a:ext cx="7863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i="0">
                <a:solidFill>
                  <a:srgbClr val="FFFFFF"/>
                </a:solidFill>
                <a:latin typeface="Montserrat ExtraBold"/>
              </a:rPr>
              <a:t>Почему в SpenDay
можно </a:t>
            </a:r>
            <a:r>
              <a:rPr sz="3600" i="0">
                <a:solidFill>
                  <a:srgbClr val="8B83FF"/>
                </a:solidFill>
                <a:latin typeface="Montserrat ExtraBold"/>
              </a:rPr>
              <a:t>инвестировать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15468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923544" y="3392424"/>
            <a:ext cx="64008" cy="64008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87552" y="3310128"/>
            <a:ext cx="109728" cy="146304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35607" y="3099816"/>
            <a:ext cx="67665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50" i="0">
                <a:solidFill>
                  <a:srgbClr val="FFFFFF"/>
                </a:solidFill>
                <a:latin typeface="Montserrat SemiBold"/>
              </a:rPr>
              <a:t>Боль массовая и ежедневная  </a:t>
            </a:r>
          </a:p>
          <a:p>
            <a:pPr algn="l">
              <a:spcAft>
                <a:spcPts val="0"/>
              </a:spcAft>
            </a:pPr>
            <a:r>
              <a:rPr sz="1250" i="0">
                <a:solidFill>
                  <a:srgbClr val="B9B7DE"/>
                </a:solidFill>
                <a:latin typeface="Montserrat Medium"/>
              </a:rPr>
              <a:t>SAM ≈ 8 млн человек, 18–30 лет в городах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94106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23544" y="4178808"/>
            <a:ext cx="64008" cy="64008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87552" y="4096512"/>
            <a:ext cx="109728" cy="146304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435607" y="3886200"/>
            <a:ext cx="67665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50" i="0">
                <a:solidFill>
                  <a:srgbClr val="FFFFFF"/>
                </a:solidFill>
                <a:latin typeface="Montserrat SemiBold"/>
              </a:rPr>
              <a:t>Запуск дёшев  </a:t>
            </a:r>
          </a:p>
          <a:p>
            <a:pPr algn="l">
              <a:spcAft>
                <a:spcPts val="0"/>
              </a:spcAft>
            </a:pPr>
            <a:r>
              <a:rPr sz="1250" i="0">
                <a:solidFill>
                  <a:srgbClr val="B9B7DE"/>
                </a:solidFill>
                <a:latin typeface="Montserrat Medium"/>
              </a:rPr>
              <a:t>MVP на простом стеке, безубыточность с 10 000 MAU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72744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923544" y="4965192"/>
            <a:ext cx="64008" cy="64008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87552" y="4882896"/>
            <a:ext cx="109728" cy="146304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435607" y="4672584"/>
            <a:ext cx="67665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50" i="0">
                <a:solidFill>
                  <a:srgbClr val="FFFFFF"/>
                </a:solidFill>
                <a:latin typeface="Montserrat SemiBold"/>
              </a:rPr>
              <a:t>Рост встроен в продукт  </a:t>
            </a:r>
          </a:p>
          <a:p>
            <a:pPr algn="l">
              <a:spcAft>
                <a:spcPts val="0"/>
              </a:spcAft>
            </a:pPr>
            <a:r>
              <a:rPr sz="1250" i="0">
                <a:solidFill>
                  <a:srgbClr val="B9B7DE"/>
                </a:solidFill>
                <a:latin typeface="Montserrat Medium"/>
              </a:rPr>
              <a:t>голосование без регистрации = viral-петля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51383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50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923544" y="5751576"/>
            <a:ext cx="64008" cy="64008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87552" y="5669280"/>
            <a:ext cx="109728" cy="146304"/>
          </a:xfrm>
          <a:prstGeom prst="bentConnector3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35607" y="5458968"/>
            <a:ext cx="67665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50" i="0">
                <a:solidFill>
                  <a:srgbClr val="FFFFFF"/>
                </a:solidFill>
                <a:latin typeface="Montserrat SemiBold"/>
              </a:rPr>
              <a:t>Понятная экономика  </a:t>
            </a:r>
          </a:p>
          <a:p>
            <a:pPr algn="l">
              <a:spcAft>
                <a:spcPts val="0"/>
              </a:spcAft>
            </a:pPr>
            <a:r>
              <a:rPr sz="1250" i="0">
                <a:solidFill>
                  <a:srgbClr val="B9B7DE"/>
                </a:solidFill>
                <a:latin typeface="Montserrat Medium"/>
              </a:rPr>
              <a:t>ARPU растёт 2 → 8 ₽, модель прибыльна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154680"/>
            <a:ext cx="3276295" cy="3154680"/>
          </a:xfrm>
          <a:prstGeom prst="roundRect">
            <a:avLst>
              <a:gd name="adj" fmla="val 6376"/>
            </a:avLst>
          </a:prstGeom>
          <a:solidFill>
            <a:srgbClr val="2A2660"/>
          </a:solidFill>
          <a:ln w="15240">
            <a:solidFill>
              <a:srgbClr val="3A3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3429000"/>
            <a:ext cx="2544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i="0" spc="200">
                <a:solidFill>
                  <a:srgbClr val="8B83FF"/>
                </a:solidFill>
                <a:latin typeface="Montserrat SemiBold"/>
              </a:rPr>
              <a:t>ИНВЕСТИЦИИ ИДУТ В УСКОРЕНИЕ</a:t>
            </a:r>
          </a:p>
        </p:txBody>
      </p:sp>
      <p:sp>
        <p:nvSpPr>
          <p:cNvPr id="27" name="Oval 26"/>
          <p:cNvSpPr/>
          <p:nvPr/>
        </p:nvSpPr>
        <p:spPr>
          <a:xfrm>
            <a:off x="8522208" y="3886200"/>
            <a:ext cx="128016" cy="128016"/>
          </a:xfrm>
          <a:prstGeom prst="ellipse">
            <a:avLst/>
          </a:prstGeom>
          <a:solidFill>
            <a:srgbClr val="8B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96528" y="3785615"/>
            <a:ext cx="2361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i="0">
                <a:solidFill>
                  <a:srgbClr val="FFFFFF"/>
                </a:solidFill>
                <a:latin typeface="Montserrat Medium"/>
              </a:rPr>
              <a:t>Контент и сценарии</a:t>
            </a:r>
          </a:p>
        </p:txBody>
      </p:sp>
      <p:sp>
        <p:nvSpPr>
          <p:cNvPr id="29" name="Oval 28"/>
          <p:cNvSpPr/>
          <p:nvPr/>
        </p:nvSpPr>
        <p:spPr>
          <a:xfrm>
            <a:off x="8522208" y="4343400"/>
            <a:ext cx="128016" cy="128016"/>
          </a:xfrm>
          <a:prstGeom prst="ellipse">
            <a:avLst/>
          </a:prstGeom>
          <a:solidFill>
            <a:srgbClr val="8B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96528" y="4242816"/>
            <a:ext cx="2361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i="0">
                <a:solidFill>
                  <a:srgbClr val="FFFFFF"/>
                </a:solidFill>
                <a:latin typeface="Montserrat Medium"/>
              </a:rPr>
              <a:t>Микро-креаторы</a:t>
            </a:r>
          </a:p>
        </p:txBody>
      </p:sp>
      <p:sp>
        <p:nvSpPr>
          <p:cNvPr id="31" name="Oval 30"/>
          <p:cNvSpPr/>
          <p:nvPr/>
        </p:nvSpPr>
        <p:spPr>
          <a:xfrm>
            <a:off x="8522208" y="4800600"/>
            <a:ext cx="128016" cy="128016"/>
          </a:xfrm>
          <a:prstGeom prst="ellipse">
            <a:avLst/>
          </a:prstGeom>
          <a:solidFill>
            <a:srgbClr val="8B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96528" y="4700016"/>
            <a:ext cx="2361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i="0">
                <a:solidFill>
                  <a:srgbClr val="FFFFFF"/>
                </a:solidFill>
                <a:latin typeface="Montserrat Medium"/>
              </a:rPr>
              <a:t>Продвижение</a:t>
            </a:r>
          </a:p>
        </p:txBody>
      </p:sp>
      <p:sp>
        <p:nvSpPr>
          <p:cNvPr id="33" name="Oval 32"/>
          <p:cNvSpPr/>
          <p:nvPr/>
        </p:nvSpPr>
        <p:spPr>
          <a:xfrm>
            <a:off x="8522208" y="5257800"/>
            <a:ext cx="128016" cy="128016"/>
          </a:xfrm>
          <a:prstGeom prst="ellipse">
            <a:avLst/>
          </a:prstGeom>
          <a:solidFill>
            <a:srgbClr val="8B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96528" y="5157216"/>
            <a:ext cx="2361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i="0">
                <a:solidFill>
                  <a:srgbClr val="FFFFFF"/>
                </a:solidFill>
                <a:latin typeface="Montserrat Medium"/>
              </a:rPr>
              <a:t>Партнёрства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503920" y="5760720"/>
            <a:ext cx="2544775" cy="0"/>
          </a:xfrm>
          <a:prstGeom prst="bentConnector3">
            <a:avLst/>
          </a:prstGeom>
          <a:ln w="15240">
            <a:solidFill>
              <a:srgbClr val="3A35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03920" y="5870448"/>
            <a:ext cx="25447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i="0">
                <a:solidFill>
                  <a:srgbClr val="8B83FF"/>
                </a:solidFill>
                <a:latin typeface="Montserrat SemiBold"/>
              </a:rPr>
              <a:t>Выбрать вечер за 10 минут — а не за вечер.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i="0">
                <a:solidFill>
                  <a:srgbClr val="FFFFFF"/>
                </a:solidFill>
                <a:latin typeface="Montserrat SemiBold"/>
              </a:rPr>
              <a:t>Spen</a:t>
            </a:r>
            <a:r>
              <a:rPr sz="1050" i="0">
                <a:solidFill>
                  <a:srgbClr val="8B83FF"/>
                </a:solidFill>
                <a:latin typeface="Montserrat SemiBold"/>
              </a:rPr>
              <a:t>Day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85655" y="64008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i="0">
                <a:solidFill>
                  <a:srgbClr val="8B83FF"/>
                </a:solidFill>
                <a:latin typeface="Montserrat SemiBold"/>
              </a:rPr>
              <a:t>17</a:t>
            </a:r>
            <a:r>
              <a:rPr sz="1050" i="0">
                <a:solidFill>
                  <a:srgbClr val="C9C7E6"/>
                </a:solidFill>
                <a:latin typeface="Montserrat Medium"/>
              </a:rPr>
              <a:t>  / 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